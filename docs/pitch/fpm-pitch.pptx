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74" r:id="rId10"/>
    <p:sldId id="276" r:id="rId11"/>
    <p:sldId id="275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0" b="0" i="0" u="none" strike="noStrike" cap="none" spc="-300" normalizeH="0" baseline="0">
        <a:ln>
          <a:noFill/>
        </a:ln>
        <a:solidFill>
          <a:srgbClr val="000000"/>
        </a:solidFill>
        <a:effectLst/>
        <a:uFillTx/>
        <a:latin typeface="Impact"/>
        <a:ea typeface="Impact"/>
        <a:cs typeface="Impact"/>
        <a:sym typeface="Impact"/>
      </a:defRPr>
    </a:lvl1pPr>
    <a:lvl2pPr marL="0" marR="0" indent="0" algn="l" defTabSz="2438338" rtl="0" fontAlgn="auto" latinLnBrk="0" hangingPunct="0">
      <a:lnSpc>
        <a:spcPct val="9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0" b="0" i="0" u="none" strike="noStrike" cap="none" spc="-300" normalizeH="0" baseline="0">
        <a:ln>
          <a:noFill/>
        </a:ln>
        <a:solidFill>
          <a:srgbClr val="000000"/>
        </a:solidFill>
        <a:effectLst/>
        <a:uFillTx/>
        <a:latin typeface="Impact"/>
        <a:ea typeface="Impact"/>
        <a:cs typeface="Impact"/>
        <a:sym typeface="Impact"/>
      </a:defRPr>
    </a:lvl2pPr>
    <a:lvl3pPr marL="0" marR="0" indent="0" algn="l" defTabSz="2438338" rtl="0" fontAlgn="auto" latinLnBrk="0" hangingPunct="0">
      <a:lnSpc>
        <a:spcPct val="9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0" b="0" i="0" u="none" strike="noStrike" cap="none" spc="-300" normalizeH="0" baseline="0">
        <a:ln>
          <a:noFill/>
        </a:ln>
        <a:solidFill>
          <a:srgbClr val="000000"/>
        </a:solidFill>
        <a:effectLst/>
        <a:uFillTx/>
        <a:latin typeface="Impact"/>
        <a:ea typeface="Impact"/>
        <a:cs typeface="Impact"/>
        <a:sym typeface="Impact"/>
      </a:defRPr>
    </a:lvl3pPr>
    <a:lvl4pPr marL="0" marR="0" indent="0" algn="l" defTabSz="2438338" rtl="0" fontAlgn="auto" latinLnBrk="0" hangingPunct="0">
      <a:lnSpc>
        <a:spcPct val="9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0" b="0" i="0" u="none" strike="noStrike" cap="none" spc="-300" normalizeH="0" baseline="0">
        <a:ln>
          <a:noFill/>
        </a:ln>
        <a:solidFill>
          <a:srgbClr val="000000"/>
        </a:solidFill>
        <a:effectLst/>
        <a:uFillTx/>
        <a:latin typeface="Impact"/>
        <a:ea typeface="Impact"/>
        <a:cs typeface="Impact"/>
        <a:sym typeface="Impact"/>
      </a:defRPr>
    </a:lvl4pPr>
    <a:lvl5pPr marL="0" marR="0" indent="0" algn="l" defTabSz="2438338" rtl="0" fontAlgn="auto" latinLnBrk="0" hangingPunct="0">
      <a:lnSpc>
        <a:spcPct val="9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0" b="0" i="0" u="none" strike="noStrike" cap="none" spc="-300" normalizeH="0" baseline="0">
        <a:ln>
          <a:noFill/>
        </a:ln>
        <a:solidFill>
          <a:srgbClr val="000000"/>
        </a:solidFill>
        <a:effectLst/>
        <a:uFillTx/>
        <a:latin typeface="Impact"/>
        <a:ea typeface="Impact"/>
        <a:cs typeface="Impact"/>
        <a:sym typeface="Impact"/>
      </a:defRPr>
    </a:lvl5pPr>
    <a:lvl6pPr marL="0" marR="0" indent="0" algn="l" defTabSz="2438338" rtl="0" fontAlgn="auto" latinLnBrk="0" hangingPunct="0">
      <a:lnSpc>
        <a:spcPct val="9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0" b="0" i="0" u="none" strike="noStrike" cap="none" spc="-300" normalizeH="0" baseline="0">
        <a:ln>
          <a:noFill/>
        </a:ln>
        <a:solidFill>
          <a:srgbClr val="000000"/>
        </a:solidFill>
        <a:effectLst/>
        <a:uFillTx/>
        <a:latin typeface="Impact"/>
        <a:ea typeface="Impact"/>
        <a:cs typeface="Impact"/>
        <a:sym typeface="Impact"/>
      </a:defRPr>
    </a:lvl6pPr>
    <a:lvl7pPr marL="0" marR="0" indent="0" algn="l" defTabSz="2438338" rtl="0" fontAlgn="auto" latinLnBrk="0" hangingPunct="0">
      <a:lnSpc>
        <a:spcPct val="9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0" b="0" i="0" u="none" strike="noStrike" cap="none" spc="-300" normalizeH="0" baseline="0">
        <a:ln>
          <a:noFill/>
        </a:ln>
        <a:solidFill>
          <a:srgbClr val="000000"/>
        </a:solidFill>
        <a:effectLst/>
        <a:uFillTx/>
        <a:latin typeface="Impact"/>
        <a:ea typeface="Impact"/>
        <a:cs typeface="Impact"/>
        <a:sym typeface="Impact"/>
      </a:defRPr>
    </a:lvl7pPr>
    <a:lvl8pPr marL="0" marR="0" indent="0" algn="l" defTabSz="2438338" rtl="0" fontAlgn="auto" latinLnBrk="0" hangingPunct="0">
      <a:lnSpc>
        <a:spcPct val="9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0" b="0" i="0" u="none" strike="noStrike" cap="none" spc="-300" normalizeH="0" baseline="0">
        <a:ln>
          <a:noFill/>
        </a:ln>
        <a:solidFill>
          <a:srgbClr val="000000"/>
        </a:solidFill>
        <a:effectLst/>
        <a:uFillTx/>
        <a:latin typeface="Impact"/>
        <a:ea typeface="Impact"/>
        <a:cs typeface="Impact"/>
        <a:sym typeface="Impact"/>
      </a:defRPr>
    </a:lvl8pPr>
    <a:lvl9pPr marL="0" marR="0" indent="0" algn="l" defTabSz="2438338" rtl="0" fontAlgn="auto" latinLnBrk="0" hangingPunct="0">
      <a:lnSpc>
        <a:spcPct val="90000"/>
      </a:lnSpc>
      <a:spcBef>
        <a:spcPts val="2000"/>
      </a:spcBef>
      <a:spcAft>
        <a:spcPts val="0"/>
      </a:spcAft>
      <a:buClrTx/>
      <a:buSzTx/>
      <a:buFontTx/>
      <a:buNone/>
      <a:tabLst/>
      <a:defRPr kumimoji="0" sz="10000" b="0" i="0" u="none" strike="noStrike" cap="none" spc="-300" normalizeH="0" baseline="0">
        <a:ln>
          <a:noFill/>
        </a:ln>
        <a:solidFill>
          <a:srgbClr val="000000"/>
        </a:solidFill>
        <a:effectLst/>
        <a:uFillTx/>
        <a:latin typeface="Impact"/>
        <a:ea typeface="Impact"/>
        <a:cs typeface="Impact"/>
        <a:sym typeface="Impac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pt-BR" sz="3000" b="0">
                <a:solidFill>
                  <a:srgbClr val="000000"/>
                </a:solidFill>
              </a:rPr>
              <a:t>Custo anual (R$ mil)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Sem FPM</c:v>
                </c:pt>
              </c:strCache>
            </c:strRef>
          </c:tx>
          <c:spPr>
            <a:solidFill>
              <a:srgbClr val="FFFFFF"/>
            </a:solidFill>
          </c:spPr>
          <c:invertIfNegative val="1"/>
          <c:dLbls>
            <c:numFmt formatCode="&quot;R$ &quot;0&quot; mil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1">
                    <a:solidFill>
                      <a:srgbClr val="000000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Manutenção corretiva</c:v>
                </c:pt>
                <c:pt idx="1">
                  <c:v>Peças de emergência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7EB-4D3A-84AC-D88EE40ED8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FPM</c:v>
                </c:pt>
              </c:strCache>
            </c:strRef>
          </c:tx>
          <c:spPr>
            <a:solidFill>
              <a:srgbClr val="000000"/>
            </a:solidFill>
          </c:spPr>
          <c:invertIfNegative val="1"/>
          <c:dLbls>
            <c:numFmt formatCode="&quot;R$ &quot;0&quot; mil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1">
                    <a:solidFill>
                      <a:srgbClr val="000000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Manutenção corretiva</c:v>
                </c:pt>
                <c:pt idx="1">
                  <c:v>Peças de emergência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</c:v>
                </c:pt>
                <c:pt idx="1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7EB-4D3A-84AC-D88EE40ED8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2800">
                <a:solidFill>
                  <a:srgbClr val="000000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2800">
              <a:solidFill>
                <a:srgbClr val="000000"/>
              </a:solidFill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Olá, eu sou o Luiz Victor, e este é o FPM: manutenção preventiva sem complicação. (~7s)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Quando uma máquina para sem aviso, a produção para junto. Nas 500 maiores empresas do mundo, as paradas não planejadas já levam 11% da receita, segundo a Siemens. E nas pequenas e médias indústrias brasileiras, a preventiva ainda vive em planilha, papel ou na memória do técnico. Esqueceu, quebrou. (~20s)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O FPM é para essas indústrias — só na transformação são 339 mil empresas no Brasil, segundo o IBGE. É para o gestor de manutenção, que precisa enxergar o que está atrasado, e para o técnico, que executa. E foca em cinco equipamentos críticos: motores, compressores, bombas, esteiras e painéis. (~15s)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O sistema coloca a preventiva no automático: cada manutenção concluída já agenda a próxima, a inspeção segue um checklist por equipamento, e o painel avisa antes do prazo vencer. (~13s)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Na prática, é assim: o técnico escaneia o QR Code colado na máquina, e o celular já abre a manutenção pendente. Ele marca cada item como OK ou Não OK. Achou um problema, como um ruído no rolamento? O sistema abre uma ordem corretiva na hora, com prazo pela criticidade da máquina. O problema não fica esquecido numa anotação. (~25s)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O guia de manutenção do Departamento de Energia dos Estados Unidos estima de 12 a 18% de economia só por trocar o conserto pela preventiva. Na minha simulação para uma fábrica média, o investimento se paga já no primeiro mês. (~12s)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O modelo é SaaS: um plano gratuito para começar sem risco, e planos pagos a partir de 199 reais por mês. (~8s)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Hoje a fábrica escolhe entre a planilha, que não automatiza nada, e sistemas complexos, que levam meses para implantar. O FPM implanta em um dia. (~10s)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O MVP já está funcionando e já mede o próprio resultado: cumprimento do plano, tempo entre falhas e quantas paradas aconteceram com a preventiva atrasada. O próximo passo são pilotos em três a cinco fábricas. (~14s)</a:t>
            </a:r>
          </a:p>
          <a:p>
            <a:endParaRPr/>
          </a:p>
          <a:p>
            <a:r>
              <a:t>Obs.: os números do print de indicadores vêm dos dados de demonstração; não citar como resultado real.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Slide de referências: não precisa ler. Se der tempo, só: "As fontes dos números estão aqui." (~3s)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Esqueceu, quebrou. O FPM não deixa esquecer. (pausa) Obrigado! (~6s)</a:t>
            </a:r>
          </a:p>
          <a:p>
            <a:endParaRPr/>
          </a:p>
          <a:p>
            <a:r>
              <a:t>Total previsto: ~2min15s.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584200">
              <a:lnSpc>
                <a:spcPct val="100000"/>
              </a:lnSpc>
              <a:spcBef>
                <a:spcPts val="0"/>
              </a:spcBef>
              <a:defRPr sz="1800" cap="none" spc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ee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ck 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Livro da Marca"/>
          <p:cNvSpPr txBox="1">
            <a:spLocks noGrp="1"/>
          </p:cNvSpPr>
          <p:nvPr>
            <p:ph type="body" sz="quarter" idx="21"/>
          </p:nvPr>
        </p:nvSpPr>
        <p:spPr>
          <a:xfrm rot="16200000">
            <a:off x="-1334228" y="7632646"/>
            <a:ext cx="4031060" cy="5472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SzTx/>
              <a:buNone/>
              <a:defRPr sz="2400" b="0" cap="none" spc="0">
                <a:solidFill>
                  <a:srgbClr val="00E88F"/>
                </a:solidFill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Livro da Marca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age full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Image"/>
          <p:cNvSpPr>
            <a:spLocks noGrp="1"/>
          </p:cNvSpPr>
          <p:nvPr>
            <p:ph type="pic" idx="21"/>
          </p:nvPr>
        </p:nvSpPr>
        <p:spPr>
          <a:xfrm>
            <a:off x="-108050" y="-1613004"/>
            <a:ext cx="24600100" cy="1639596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pic>
        <p:nvPicPr>
          <p:cNvPr id="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A"/>
          <p:cNvSpPr txBox="1">
            <a:spLocks noGrp="1"/>
          </p:cNvSpPr>
          <p:nvPr>
            <p:ph type="body" sz="quarter" idx="22"/>
          </p:nvPr>
        </p:nvSpPr>
        <p:spPr>
          <a:xfrm>
            <a:off x="308755" y="502853"/>
            <a:ext cx="872199" cy="7620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 defTabSz="2438338">
              <a:lnSpc>
                <a:spcPts val="2400"/>
              </a:lnSpc>
              <a:spcBef>
                <a:spcPts val="0"/>
              </a:spcBef>
              <a:buSzTx/>
              <a:buNone/>
              <a:defRPr sz="2400" b="0" cap="none" spc="-48"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A</a:t>
            </a:r>
          </a:p>
        </p:txBody>
      </p:sp>
      <p:sp>
        <p:nvSpPr>
          <p:cNvPr id="75" name="Livro da Marca"/>
          <p:cNvSpPr txBox="1">
            <a:spLocks noGrp="1"/>
          </p:cNvSpPr>
          <p:nvPr>
            <p:ph type="body" sz="quarter" idx="23"/>
          </p:nvPr>
        </p:nvSpPr>
        <p:spPr>
          <a:xfrm rot="16200000">
            <a:off x="-1334228" y="7632646"/>
            <a:ext cx="4031060" cy="5472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SzTx/>
              <a:buNone/>
              <a:defRPr sz="2400" b="0" cap="none" spc="0"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Livro da Marca</a:t>
            </a:r>
          </a:p>
        </p:txBody>
      </p:sp>
      <p:sp>
        <p:nvSpPr>
          <p:cNvPr id="76" name="Title Text"/>
          <p:cNvSpPr txBox="1">
            <a:spLocks noGrp="1"/>
          </p:cNvSpPr>
          <p:nvPr>
            <p:ph type="body" sz="quarter" idx="24"/>
          </p:nvPr>
        </p:nvSpPr>
        <p:spPr>
          <a:xfrm rot="16200000">
            <a:off x="-987925" y="2922941"/>
            <a:ext cx="3338454" cy="5472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SzTx/>
              <a:buNone/>
              <a:defRPr sz="2400" b="0" cap="none" spc="0"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Title Text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8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faculdade-preto.png" descr="Logo-faculdade-pret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359" y="515849"/>
            <a:ext cx="3227113" cy="65422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 rot="16200000">
            <a:off x="-1685793" y="2683019"/>
            <a:ext cx="4861190" cy="547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15902" y="12755562"/>
            <a:ext cx="291847" cy="381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defRPr sz="2000" cap="all" spc="100">
                <a:solidFill>
                  <a:srgbClr val="00E88F"/>
                </a:solidFill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E88F"/>
          </a:solidFill>
          <a:uFillTx/>
          <a:latin typeface="+mj-lt"/>
          <a:ea typeface="+mj-ea"/>
          <a:cs typeface="+mj-cs"/>
          <a:sym typeface="Aprova Sans Bold"/>
        </a:defRPr>
      </a:lvl1pPr>
      <a:lvl2pPr marL="0" marR="0" indent="228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E88F"/>
          </a:solidFill>
          <a:uFillTx/>
          <a:latin typeface="+mj-lt"/>
          <a:ea typeface="+mj-ea"/>
          <a:cs typeface="+mj-cs"/>
          <a:sym typeface="Aprova Sans Bold"/>
        </a:defRPr>
      </a:lvl2pPr>
      <a:lvl3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E88F"/>
          </a:solidFill>
          <a:uFillTx/>
          <a:latin typeface="+mj-lt"/>
          <a:ea typeface="+mj-ea"/>
          <a:cs typeface="+mj-cs"/>
          <a:sym typeface="Aprova Sans Bold"/>
        </a:defRPr>
      </a:lvl3pPr>
      <a:lvl4pPr marL="0" marR="0" indent="685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E88F"/>
          </a:solidFill>
          <a:uFillTx/>
          <a:latin typeface="+mj-lt"/>
          <a:ea typeface="+mj-ea"/>
          <a:cs typeface="+mj-cs"/>
          <a:sym typeface="Aprova Sans Bold"/>
        </a:defRPr>
      </a:lvl4pPr>
      <a:lvl5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E88F"/>
          </a:solidFill>
          <a:uFillTx/>
          <a:latin typeface="+mj-lt"/>
          <a:ea typeface="+mj-ea"/>
          <a:cs typeface="+mj-cs"/>
          <a:sym typeface="Aprova Sans Bold"/>
        </a:defRPr>
      </a:lvl5pPr>
      <a:lvl6pPr marL="0" marR="0" indent="1143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E88F"/>
          </a:solidFill>
          <a:uFillTx/>
          <a:latin typeface="+mj-lt"/>
          <a:ea typeface="+mj-ea"/>
          <a:cs typeface="+mj-cs"/>
          <a:sym typeface="Aprova Sans Bold"/>
        </a:defRPr>
      </a:lvl6pPr>
      <a:lvl7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E88F"/>
          </a:solidFill>
          <a:uFillTx/>
          <a:latin typeface="+mj-lt"/>
          <a:ea typeface="+mj-ea"/>
          <a:cs typeface="+mj-cs"/>
          <a:sym typeface="Aprova Sans Bold"/>
        </a:defRPr>
      </a:lvl7pPr>
      <a:lvl8pPr marL="0" marR="0" indent="1600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E88F"/>
          </a:solidFill>
          <a:uFillTx/>
          <a:latin typeface="+mj-lt"/>
          <a:ea typeface="+mj-ea"/>
          <a:cs typeface="+mj-cs"/>
          <a:sym typeface="Aprova Sans Bold"/>
        </a:defRPr>
      </a:lvl8pPr>
      <a:lvl9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E88F"/>
          </a:solidFill>
          <a:uFillTx/>
          <a:latin typeface="+mj-lt"/>
          <a:ea typeface="+mj-ea"/>
          <a:cs typeface="+mj-cs"/>
          <a:sym typeface="Aprova Sans Bold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3400"/>
        </a:spcBef>
        <a:spcAft>
          <a:spcPts val="0"/>
        </a:spcAft>
        <a:buClrTx/>
        <a:buSzPct val="75000"/>
        <a:buFontTx/>
        <a:buChar char="•"/>
        <a:tabLst/>
        <a:defRPr sz="5200" b="1" i="0" u="none" strike="noStrike" cap="all" spc="26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1pPr>
      <a:lvl2pPr marL="1270000" marR="0" indent="-635000" algn="l" defTabSz="825500" latinLnBrk="0">
        <a:lnSpc>
          <a:spcPct val="100000"/>
        </a:lnSpc>
        <a:spcBef>
          <a:spcPts val="3400"/>
        </a:spcBef>
        <a:spcAft>
          <a:spcPts val="0"/>
        </a:spcAft>
        <a:buClrTx/>
        <a:buSzPct val="75000"/>
        <a:buFontTx/>
        <a:buChar char="•"/>
        <a:tabLst/>
        <a:defRPr sz="5200" b="1" i="0" u="none" strike="noStrike" cap="all" spc="26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2pPr>
      <a:lvl3pPr marL="1905000" marR="0" indent="-635000" algn="l" defTabSz="825500" latinLnBrk="0">
        <a:lnSpc>
          <a:spcPct val="100000"/>
        </a:lnSpc>
        <a:spcBef>
          <a:spcPts val="3400"/>
        </a:spcBef>
        <a:spcAft>
          <a:spcPts val="0"/>
        </a:spcAft>
        <a:buClrTx/>
        <a:buSzPct val="75000"/>
        <a:buFontTx/>
        <a:buChar char="•"/>
        <a:tabLst/>
        <a:defRPr sz="5200" b="1" i="0" u="none" strike="noStrike" cap="all" spc="26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3pPr>
      <a:lvl4pPr marL="2540000" marR="0" indent="-635000" algn="l" defTabSz="825500" latinLnBrk="0">
        <a:lnSpc>
          <a:spcPct val="100000"/>
        </a:lnSpc>
        <a:spcBef>
          <a:spcPts val="3400"/>
        </a:spcBef>
        <a:spcAft>
          <a:spcPts val="0"/>
        </a:spcAft>
        <a:buClrTx/>
        <a:buSzPct val="75000"/>
        <a:buFontTx/>
        <a:buChar char="•"/>
        <a:tabLst/>
        <a:defRPr sz="5200" b="1" i="0" u="none" strike="noStrike" cap="all" spc="26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4pPr>
      <a:lvl5pPr marL="3175000" marR="0" indent="-635000" algn="l" defTabSz="825500" latinLnBrk="0">
        <a:lnSpc>
          <a:spcPct val="100000"/>
        </a:lnSpc>
        <a:spcBef>
          <a:spcPts val="3400"/>
        </a:spcBef>
        <a:spcAft>
          <a:spcPts val="0"/>
        </a:spcAft>
        <a:buClrTx/>
        <a:buSzPct val="75000"/>
        <a:buFontTx/>
        <a:buChar char="•"/>
        <a:tabLst/>
        <a:defRPr sz="5200" b="1" i="0" u="none" strike="noStrike" cap="all" spc="26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5pPr>
      <a:lvl6pPr marL="3810000" marR="0" indent="-635000" algn="l" defTabSz="825500" latinLnBrk="0">
        <a:lnSpc>
          <a:spcPct val="100000"/>
        </a:lnSpc>
        <a:spcBef>
          <a:spcPts val="3400"/>
        </a:spcBef>
        <a:spcAft>
          <a:spcPts val="0"/>
        </a:spcAft>
        <a:buClrTx/>
        <a:buSzPct val="75000"/>
        <a:buFontTx/>
        <a:buChar char="•"/>
        <a:tabLst/>
        <a:defRPr sz="5200" b="1" i="0" u="none" strike="noStrike" cap="all" spc="26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6pPr>
      <a:lvl7pPr marL="4445000" marR="0" indent="-635000" algn="l" defTabSz="825500" latinLnBrk="0">
        <a:lnSpc>
          <a:spcPct val="100000"/>
        </a:lnSpc>
        <a:spcBef>
          <a:spcPts val="3400"/>
        </a:spcBef>
        <a:spcAft>
          <a:spcPts val="0"/>
        </a:spcAft>
        <a:buClrTx/>
        <a:buSzPct val="75000"/>
        <a:buFontTx/>
        <a:buChar char="•"/>
        <a:tabLst/>
        <a:defRPr sz="5200" b="1" i="0" u="none" strike="noStrike" cap="all" spc="26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7pPr>
      <a:lvl8pPr marL="5080000" marR="0" indent="-635000" algn="l" defTabSz="825500" latinLnBrk="0">
        <a:lnSpc>
          <a:spcPct val="100000"/>
        </a:lnSpc>
        <a:spcBef>
          <a:spcPts val="3400"/>
        </a:spcBef>
        <a:spcAft>
          <a:spcPts val="0"/>
        </a:spcAft>
        <a:buClrTx/>
        <a:buSzPct val="75000"/>
        <a:buFontTx/>
        <a:buChar char="•"/>
        <a:tabLst/>
        <a:defRPr sz="5200" b="1" i="0" u="none" strike="noStrike" cap="all" spc="26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8pPr>
      <a:lvl9pPr marL="5715000" marR="0" indent="-635000" algn="l" defTabSz="825500" latinLnBrk="0">
        <a:lnSpc>
          <a:spcPct val="100000"/>
        </a:lnSpc>
        <a:spcBef>
          <a:spcPts val="3400"/>
        </a:spcBef>
        <a:spcAft>
          <a:spcPts val="0"/>
        </a:spcAft>
        <a:buClrTx/>
        <a:buSzPct val="75000"/>
        <a:buFontTx/>
        <a:buChar char="•"/>
        <a:tabLst/>
        <a:defRPr sz="5200" b="1" i="0" u="none" strike="noStrike" cap="all" spc="26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ctr" defTabSz="2438338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000" b="0" i="0" u="none" strike="noStrike" cap="all" spc="100" baseline="0">
          <a:solidFill>
            <a:schemeClr val="tx1"/>
          </a:solidFill>
          <a:uFillTx/>
          <a:latin typeface="+mn-lt"/>
          <a:ea typeface="+mn-ea"/>
          <a:cs typeface="+mn-cs"/>
          <a:sym typeface="Aprova Sans Bold"/>
        </a:defRPr>
      </a:lvl1pPr>
      <a:lvl2pPr marL="0" marR="0" indent="228600" algn="ctr" defTabSz="2438338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000" b="0" i="0" u="none" strike="noStrike" cap="all" spc="100" baseline="0">
          <a:solidFill>
            <a:schemeClr val="tx1"/>
          </a:solidFill>
          <a:uFillTx/>
          <a:latin typeface="+mn-lt"/>
          <a:ea typeface="+mn-ea"/>
          <a:cs typeface="+mn-cs"/>
          <a:sym typeface="Aprova Sans Bold"/>
        </a:defRPr>
      </a:lvl2pPr>
      <a:lvl3pPr marL="0" marR="0" indent="457200" algn="ctr" defTabSz="2438338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000" b="0" i="0" u="none" strike="noStrike" cap="all" spc="100" baseline="0">
          <a:solidFill>
            <a:schemeClr val="tx1"/>
          </a:solidFill>
          <a:uFillTx/>
          <a:latin typeface="+mn-lt"/>
          <a:ea typeface="+mn-ea"/>
          <a:cs typeface="+mn-cs"/>
          <a:sym typeface="Aprova Sans Bold"/>
        </a:defRPr>
      </a:lvl3pPr>
      <a:lvl4pPr marL="0" marR="0" indent="685800" algn="ctr" defTabSz="2438338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000" b="0" i="0" u="none" strike="noStrike" cap="all" spc="100" baseline="0">
          <a:solidFill>
            <a:schemeClr val="tx1"/>
          </a:solidFill>
          <a:uFillTx/>
          <a:latin typeface="+mn-lt"/>
          <a:ea typeface="+mn-ea"/>
          <a:cs typeface="+mn-cs"/>
          <a:sym typeface="Aprova Sans Bold"/>
        </a:defRPr>
      </a:lvl4pPr>
      <a:lvl5pPr marL="0" marR="0" indent="914400" algn="ctr" defTabSz="2438338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000" b="0" i="0" u="none" strike="noStrike" cap="all" spc="100" baseline="0">
          <a:solidFill>
            <a:schemeClr val="tx1"/>
          </a:solidFill>
          <a:uFillTx/>
          <a:latin typeface="+mn-lt"/>
          <a:ea typeface="+mn-ea"/>
          <a:cs typeface="+mn-cs"/>
          <a:sym typeface="Aprova Sans Bold"/>
        </a:defRPr>
      </a:lvl5pPr>
      <a:lvl6pPr marL="0" marR="0" indent="1143000" algn="ctr" defTabSz="2438338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000" b="0" i="0" u="none" strike="noStrike" cap="all" spc="100" baseline="0">
          <a:solidFill>
            <a:schemeClr val="tx1"/>
          </a:solidFill>
          <a:uFillTx/>
          <a:latin typeface="+mn-lt"/>
          <a:ea typeface="+mn-ea"/>
          <a:cs typeface="+mn-cs"/>
          <a:sym typeface="Aprova Sans Bold"/>
        </a:defRPr>
      </a:lvl6pPr>
      <a:lvl7pPr marL="0" marR="0" indent="1371600" algn="ctr" defTabSz="2438338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000" b="0" i="0" u="none" strike="noStrike" cap="all" spc="100" baseline="0">
          <a:solidFill>
            <a:schemeClr val="tx1"/>
          </a:solidFill>
          <a:uFillTx/>
          <a:latin typeface="+mn-lt"/>
          <a:ea typeface="+mn-ea"/>
          <a:cs typeface="+mn-cs"/>
          <a:sym typeface="Aprova Sans Bold"/>
        </a:defRPr>
      </a:lvl7pPr>
      <a:lvl8pPr marL="0" marR="0" indent="1600200" algn="ctr" defTabSz="2438338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000" b="0" i="0" u="none" strike="noStrike" cap="all" spc="100" baseline="0">
          <a:solidFill>
            <a:schemeClr val="tx1"/>
          </a:solidFill>
          <a:uFillTx/>
          <a:latin typeface="+mn-lt"/>
          <a:ea typeface="+mn-ea"/>
          <a:cs typeface="+mn-cs"/>
          <a:sym typeface="Aprova Sans Bold"/>
        </a:defRPr>
      </a:lvl8pPr>
      <a:lvl9pPr marL="0" marR="0" indent="1828800" algn="ctr" defTabSz="2438338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2000" b="0" i="0" u="none" strike="noStrike" cap="all" spc="100" baseline="0">
          <a:solidFill>
            <a:schemeClr val="tx1"/>
          </a:solidFill>
          <a:uFillTx/>
          <a:latin typeface="+mn-lt"/>
          <a:ea typeface="+mn-ea"/>
          <a:cs typeface="+mn-cs"/>
          <a:sym typeface="Aprova Sans Bol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Logo-faculdade-preto.png" descr="Logo-faculdade-p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9" y="515849"/>
            <a:ext cx="3227113" cy="654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5492" y="485354"/>
            <a:ext cx="12381882" cy="12745292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Título do Pitch"/>
          <p:cNvSpPr txBox="1"/>
          <p:nvPr/>
        </p:nvSpPr>
        <p:spPr>
          <a:xfrm>
            <a:off x="1247649" y="5077295"/>
            <a:ext cx="21888703" cy="4818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7800"/>
              </a:lnSpc>
              <a:defRPr sz="18500" spc="-555"/>
            </a:lvl1pPr>
          </a:lstStyle>
          <a:p>
            <a:r>
              <a:rPr dirty="0"/>
              <a:t>FPM</a:t>
            </a:r>
          </a:p>
        </p:txBody>
      </p:sp>
      <p:sp>
        <p:nvSpPr>
          <p:cNvPr id="89" name="Seu nome completo aqui"/>
          <p:cNvSpPr txBox="1"/>
          <p:nvPr/>
        </p:nvSpPr>
        <p:spPr>
          <a:xfrm>
            <a:off x="772904" y="11712834"/>
            <a:ext cx="7805789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3000" spc="-9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pt-BR" dirty="0"/>
              <a:t>Luiz Victor Nascimento de Andrade</a:t>
            </a:r>
            <a:endParaRPr dirty="0"/>
          </a:p>
        </p:txBody>
      </p:sp>
      <p:sp>
        <p:nvSpPr>
          <p:cNvPr id="90" name="Nome completo do seu curso de Pós-graduação aqui"/>
          <p:cNvSpPr txBox="1"/>
          <p:nvPr/>
        </p:nvSpPr>
        <p:spPr>
          <a:xfrm>
            <a:off x="772904" y="12267456"/>
            <a:ext cx="9271699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3000" spc="-9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pt-BR" dirty="0"/>
              <a:t>Engenharia de Software</a:t>
            </a:r>
            <a:endParaRPr dirty="0"/>
          </a:p>
        </p:txBody>
      </p:sp>
      <p:sp>
        <p:nvSpPr>
          <p:cNvPr id="91" name="Pitch | Avaliação do módulo 3"/>
          <p:cNvSpPr txBox="1"/>
          <p:nvPr/>
        </p:nvSpPr>
        <p:spPr>
          <a:xfrm>
            <a:off x="772904" y="10853412"/>
            <a:ext cx="7805789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3200" b="1" spc="-96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Pitch | Avaliação do módulo 3</a:t>
            </a:r>
          </a:p>
        </p:txBody>
      </p:sp>
      <p:sp>
        <p:nvSpPr>
          <p:cNvPr id="92" name="Subtitulo"/>
          <p:cNvSpPr txBox="1"/>
          <p:nvPr/>
        </p:nvSpPr>
        <p:spPr>
          <a:xfrm>
            <a:off x="13350240" y="9418320"/>
            <a:ext cx="9692640" cy="13644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spc="0" dirty="0">
                <a:solidFill>
                  <a:srgbClr val="212121"/>
                </a:solidFill>
                <a:latin typeface="Helvetica"/>
              </a:rPr>
              <a:t>Factory Preventive Maintenance:</a:t>
            </a:r>
          </a:p>
          <a:p>
            <a:pPr algn="l"/>
            <a:r>
              <a:rPr lang="pt-BR" sz="4000" spc="0" dirty="0">
                <a:solidFill>
                  <a:srgbClr val="212121"/>
                </a:solidFill>
                <a:latin typeface="Helvetica"/>
              </a:rPr>
              <a:t>M</a:t>
            </a:r>
            <a:r>
              <a:rPr sz="4000" b="0" spc="0" dirty="0" err="1">
                <a:solidFill>
                  <a:srgbClr val="212121"/>
                </a:solidFill>
                <a:latin typeface="Helvetica"/>
              </a:rPr>
              <a:t>anutenção</a:t>
            </a:r>
            <a:r>
              <a:rPr sz="4000" b="0" spc="0" dirty="0">
                <a:solidFill>
                  <a:srgbClr val="212121"/>
                </a:solidFill>
                <a:latin typeface="Helvetica"/>
              </a:rPr>
              <a:t> </a:t>
            </a:r>
            <a:r>
              <a:rPr lang="pt-BR" sz="4000" spc="0" dirty="0">
                <a:solidFill>
                  <a:srgbClr val="212121"/>
                </a:solidFill>
                <a:latin typeface="Helvetica"/>
              </a:rPr>
              <a:t>P</a:t>
            </a:r>
            <a:r>
              <a:rPr sz="4000" b="0" spc="0" dirty="0" err="1">
                <a:solidFill>
                  <a:srgbClr val="212121"/>
                </a:solidFill>
                <a:latin typeface="Helvetica"/>
              </a:rPr>
              <a:t>reventiva</a:t>
            </a:r>
            <a:r>
              <a:rPr sz="4000" b="0" spc="0" dirty="0">
                <a:solidFill>
                  <a:srgbClr val="212121"/>
                </a:solidFill>
                <a:latin typeface="Helvetica"/>
              </a:rPr>
              <a:t> </a:t>
            </a:r>
            <a:r>
              <a:rPr lang="pt-BR" sz="4000" b="0" spc="0" dirty="0">
                <a:solidFill>
                  <a:srgbClr val="212121"/>
                </a:solidFill>
                <a:latin typeface="Helvetica"/>
              </a:rPr>
              <a:t>S</a:t>
            </a:r>
            <a:r>
              <a:rPr sz="4000" b="0" spc="0" dirty="0" err="1">
                <a:solidFill>
                  <a:srgbClr val="212121"/>
                </a:solidFill>
                <a:latin typeface="Helvetica"/>
              </a:rPr>
              <a:t>em</a:t>
            </a:r>
            <a:r>
              <a:rPr sz="4000" b="0" spc="0" dirty="0">
                <a:solidFill>
                  <a:srgbClr val="212121"/>
                </a:solidFill>
                <a:latin typeface="Helvetica"/>
              </a:rPr>
              <a:t> </a:t>
            </a:r>
            <a:r>
              <a:rPr lang="pt-BR" sz="4000" spc="0" dirty="0">
                <a:solidFill>
                  <a:srgbClr val="212121"/>
                </a:solidFill>
                <a:latin typeface="Helvetica"/>
              </a:rPr>
              <a:t>C</a:t>
            </a:r>
            <a:r>
              <a:rPr sz="4000" b="0" spc="0" dirty="0" err="1">
                <a:solidFill>
                  <a:srgbClr val="212121"/>
                </a:solidFill>
                <a:latin typeface="Helvetica"/>
              </a:rPr>
              <a:t>omplicação</a:t>
            </a:r>
            <a:endParaRPr sz="4000" b="0" spc="0" dirty="0">
              <a:solidFill>
                <a:srgbClr val="212121"/>
              </a:solidFill>
              <a:latin typeface="Helvetica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O PROBLEMA"/>
          <p:cNvSpPr txBox="1"/>
          <p:nvPr/>
        </p:nvSpPr>
        <p:spPr>
          <a:xfrm>
            <a:off x="2494421" y="1432887"/>
            <a:ext cx="9139880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t>O PROBLEMA</a:t>
            </a:r>
          </a:p>
        </p:txBody>
      </p:sp>
      <p:sp>
        <p:nvSpPr>
          <p:cNvPr id="99" name="Insira aqui uma breve descrição de qual é o problema e seus agravantes"/>
          <p:cNvSpPr txBox="1"/>
          <p:nvPr/>
        </p:nvSpPr>
        <p:spPr>
          <a:xfrm>
            <a:off x="2506306" y="3501067"/>
            <a:ext cx="9139880" cy="615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4000" spc="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spcAft>
                <a:spcPts val="2400"/>
              </a:spcAft>
            </a:pPr>
            <a:r>
              <a:rPr dirty="0"/>
              <a:t>Paradas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planejadas</a:t>
            </a:r>
            <a:r>
              <a:rPr dirty="0"/>
              <a:t> de </a:t>
            </a:r>
            <a:r>
              <a:rPr dirty="0" err="1"/>
              <a:t>equipamentos</a:t>
            </a:r>
            <a:r>
              <a:rPr dirty="0"/>
              <a:t> </a:t>
            </a:r>
            <a:r>
              <a:rPr dirty="0" err="1"/>
              <a:t>derrubam</a:t>
            </a:r>
            <a:r>
              <a:rPr dirty="0"/>
              <a:t> a </a:t>
            </a:r>
            <a:r>
              <a:rPr dirty="0" err="1"/>
              <a:t>produção</a:t>
            </a:r>
            <a:r>
              <a:rPr dirty="0"/>
              <a:t> das </a:t>
            </a:r>
            <a:r>
              <a:rPr dirty="0" err="1"/>
              <a:t>fábricas</a:t>
            </a:r>
            <a:r>
              <a:rPr dirty="0"/>
              <a:t> </a:t>
            </a:r>
            <a:r>
              <a:rPr dirty="0" err="1"/>
              <a:t>brasileiras</a:t>
            </a:r>
            <a:r>
              <a:rPr dirty="0"/>
              <a:t>.</a:t>
            </a:r>
          </a:p>
          <a:p>
            <a:pPr>
              <a:spcAft>
                <a:spcPts val="2400"/>
              </a:spcAft>
            </a:pPr>
            <a:r>
              <a:rPr dirty="0"/>
              <a:t>Nas </a:t>
            </a:r>
            <a:r>
              <a:rPr dirty="0" err="1"/>
              <a:t>pequenas</a:t>
            </a:r>
            <a:r>
              <a:rPr dirty="0"/>
              <a:t> e </a:t>
            </a:r>
            <a:r>
              <a:rPr dirty="0" err="1"/>
              <a:t>médias</a:t>
            </a:r>
            <a:r>
              <a:rPr dirty="0"/>
              <a:t> </a:t>
            </a:r>
            <a:r>
              <a:rPr dirty="0" err="1"/>
              <a:t>indústrias</a:t>
            </a:r>
            <a:r>
              <a:rPr dirty="0"/>
              <a:t>, a </a:t>
            </a:r>
            <a:r>
              <a:rPr dirty="0" err="1"/>
              <a:t>manutenção</a:t>
            </a:r>
            <a:r>
              <a:rPr dirty="0"/>
              <a:t> </a:t>
            </a:r>
            <a:r>
              <a:rPr dirty="0" err="1"/>
              <a:t>ainda</a:t>
            </a:r>
            <a:r>
              <a:rPr dirty="0"/>
              <a:t> é </a:t>
            </a:r>
            <a:r>
              <a:rPr dirty="0" err="1"/>
              <a:t>controlada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planilhas</a:t>
            </a:r>
            <a:r>
              <a:rPr dirty="0"/>
              <a:t>, </a:t>
            </a:r>
            <a:r>
              <a:rPr dirty="0" err="1"/>
              <a:t>papel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memória</a:t>
            </a:r>
            <a:r>
              <a:rPr dirty="0"/>
              <a:t> do </a:t>
            </a:r>
            <a:r>
              <a:rPr dirty="0" err="1"/>
              <a:t>técnico</a:t>
            </a:r>
            <a:r>
              <a:rPr dirty="0"/>
              <a:t>.</a:t>
            </a:r>
          </a:p>
          <a:p>
            <a:pPr>
              <a:spcAft>
                <a:spcPts val="2400"/>
              </a:spcAft>
            </a:pPr>
            <a:r>
              <a:rPr dirty="0"/>
              <a:t>Quando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manutenção</a:t>
            </a:r>
            <a:r>
              <a:rPr dirty="0"/>
              <a:t> é </a:t>
            </a:r>
            <a:r>
              <a:rPr dirty="0" err="1"/>
              <a:t>esquecida</a:t>
            </a:r>
            <a:r>
              <a:rPr dirty="0"/>
              <a:t>, a </a:t>
            </a:r>
            <a:r>
              <a:rPr dirty="0" err="1"/>
              <a:t>máquina</a:t>
            </a:r>
            <a:r>
              <a:rPr dirty="0"/>
              <a:t> para</a:t>
            </a:r>
            <a:r>
              <a:rPr lang="pt-BR" dirty="0"/>
              <a:t>, </a:t>
            </a:r>
            <a:r>
              <a:rPr dirty="0"/>
              <a:t>e a </a:t>
            </a:r>
            <a:r>
              <a:rPr dirty="0" err="1"/>
              <a:t>produção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.</a:t>
            </a:r>
          </a:p>
        </p:txBody>
      </p:sp>
      <p:sp>
        <p:nvSpPr>
          <p:cNvPr id="102" name="Título do seu Pitch"/>
          <p:cNvSpPr txBox="1"/>
          <p:nvPr/>
        </p:nvSpPr>
        <p:spPr>
          <a:xfrm rot="16200000">
            <a:off x="-1334228" y="7632646"/>
            <a:ext cx="4031060" cy="547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00E88F"/>
                </a:solidFill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FPM · Manutenção Preventiva</a:t>
            </a:r>
          </a:p>
        </p:txBody>
      </p:sp>
      <p:sp>
        <p:nvSpPr>
          <p:cNvPr id="103" name="Painel"/>
          <p:cNvSpPr/>
          <p:nvPr/>
        </p:nvSpPr>
        <p:spPr>
          <a:xfrm>
            <a:off x="14154912" y="0"/>
            <a:ext cx="10229392" cy="1371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Stat 1"/>
          <p:cNvSpPr txBox="1"/>
          <p:nvPr/>
        </p:nvSpPr>
        <p:spPr>
          <a:xfrm>
            <a:off x="15069312" y="1463040"/>
            <a:ext cx="840059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00E88F"/>
                </a:solidFill>
              </a:rPr>
              <a:t>11%</a:t>
            </a:r>
          </a:p>
        </p:txBody>
      </p:sp>
      <p:sp>
        <p:nvSpPr>
          <p:cNvPr id="105" name="Stat 1 label"/>
          <p:cNvSpPr txBox="1"/>
          <p:nvPr/>
        </p:nvSpPr>
        <p:spPr>
          <a:xfrm>
            <a:off x="15069312" y="3246120"/>
            <a:ext cx="84005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spc="0">
                <a:solidFill>
                  <a:srgbClr val="FFFFFF"/>
                </a:solidFill>
                <a:latin typeface="Helvetica"/>
              </a:rPr>
              <a:t>da receita das 500 maiores empresas do mundo se perde em paradas</a:t>
            </a:r>
          </a:p>
        </p:txBody>
      </p:sp>
      <p:sp>
        <p:nvSpPr>
          <p:cNvPr id="106" name="Stat 2"/>
          <p:cNvSpPr txBox="1"/>
          <p:nvPr/>
        </p:nvSpPr>
        <p:spPr>
          <a:xfrm>
            <a:off x="15069312" y="5212079"/>
            <a:ext cx="840059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00E88F"/>
                </a:solidFill>
              </a:rPr>
              <a:t>4,14%</a:t>
            </a:r>
          </a:p>
        </p:txBody>
      </p:sp>
      <p:sp>
        <p:nvSpPr>
          <p:cNvPr id="107" name="Stat 2 label"/>
          <p:cNvSpPr txBox="1"/>
          <p:nvPr/>
        </p:nvSpPr>
        <p:spPr>
          <a:xfrm>
            <a:off x="15069312" y="6995159"/>
            <a:ext cx="84005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spc="0">
                <a:solidFill>
                  <a:srgbClr val="FFFFFF"/>
                </a:solidFill>
                <a:latin typeface="Helvetica"/>
              </a:rPr>
              <a:t>do faturamento das indústrias brasileiras vai para manutenção</a:t>
            </a:r>
          </a:p>
        </p:txBody>
      </p:sp>
      <p:sp>
        <p:nvSpPr>
          <p:cNvPr id="108" name="Stat 3"/>
          <p:cNvSpPr txBox="1"/>
          <p:nvPr/>
        </p:nvSpPr>
        <p:spPr>
          <a:xfrm>
            <a:off x="15069312" y="8961119"/>
            <a:ext cx="840059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00E88F"/>
                </a:solidFill>
              </a:rPr>
              <a:t>US$ 125 mil</a:t>
            </a:r>
          </a:p>
        </p:txBody>
      </p:sp>
      <p:sp>
        <p:nvSpPr>
          <p:cNvPr id="109" name="Stat 3 label"/>
          <p:cNvSpPr txBox="1"/>
          <p:nvPr/>
        </p:nvSpPr>
        <p:spPr>
          <a:xfrm>
            <a:off x="15069312" y="10744199"/>
            <a:ext cx="84005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spc="0">
                <a:solidFill>
                  <a:srgbClr val="FFFFFF"/>
                </a:solidFill>
                <a:latin typeface="Helvetica"/>
              </a:rPr>
              <a:t>é o custo médio de uma hora de parada não planejada</a:t>
            </a:r>
          </a:p>
        </p:txBody>
      </p:sp>
      <p:sp>
        <p:nvSpPr>
          <p:cNvPr id="110" name="Fonte"/>
          <p:cNvSpPr txBox="1"/>
          <p:nvPr/>
        </p:nvSpPr>
        <p:spPr>
          <a:xfrm>
            <a:off x="15069312" y="12755880"/>
            <a:ext cx="84033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 spc="0">
                <a:solidFill>
                  <a:srgbClr val="A3A3A3"/>
                </a:solidFill>
                <a:latin typeface="Arial"/>
              </a:rPr>
              <a:t>Fontes: Siemens (2024) · Abraman (2009) · ABB (2023)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PÚBLICO-ALVO"/>
          <p:cNvSpPr txBox="1"/>
          <p:nvPr/>
        </p:nvSpPr>
        <p:spPr>
          <a:xfrm>
            <a:off x="2494421" y="1432887"/>
            <a:ext cx="9163650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t>PÚBLICO-ALVO</a:t>
            </a:r>
          </a:p>
        </p:txBody>
      </p:sp>
      <p:sp>
        <p:nvSpPr>
          <p:cNvPr id="106" name="Insira aqui uma breve descrição de qual é seu público-alvo ou liste em forma de tópicos"/>
          <p:cNvSpPr txBox="1"/>
          <p:nvPr/>
        </p:nvSpPr>
        <p:spPr>
          <a:xfrm>
            <a:off x="2506306" y="3501068"/>
            <a:ext cx="9139880" cy="6463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4000" spc="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502920" indent="-502920">
              <a:spcAft>
                <a:spcPts val="2400"/>
              </a:spcAft>
              <a:buFont typeface="Arial"/>
              <a:buChar char="•"/>
            </a:pPr>
            <a:r>
              <a:rPr lang="pt-BR" b="1" dirty="0"/>
              <a:t>Indústrias de pequeno e médio porte</a:t>
            </a:r>
            <a:r>
              <a:rPr lang="pt-BR" dirty="0"/>
              <a:t>: </a:t>
            </a:r>
            <a:r>
              <a:rPr lang="pt-BR" b="0" dirty="0"/>
              <a:t>metalúrgicas, alimentícias, têxteis</a:t>
            </a:r>
          </a:p>
          <a:p>
            <a:pPr marL="502920" indent="-502920">
              <a:spcAft>
                <a:spcPts val="2400"/>
              </a:spcAft>
              <a:buFont typeface="Arial"/>
              <a:buChar char="•"/>
            </a:pPr>
            <a:r>
              <a:rPr lang="pt-BR" b="1" dirty="0"/>
              <a:t>Gestores de manutenção</a:t>
            </a:r>
            <a:r>
              <a:rPr lang="pt-BR" b="0" dirty="0"/>
              <a:t> que precisam de visão e controle</a:t>
            </a:r>
          </a:p>
          <a:p>
            <a:pPr marL="502920" indent="-502920">
              <a:spcAft>
                <a:spcPts val="2400"/>
              </a:spcAft>
              <a:buFont typeface="Arial"/>
              <a:buChar char="•"/>
            </a:pPr>
            <a:r>
              <a:rPr lang="pt-BR" b="1" dirty="0"/>
              <a:t>Técnicos de chão de fábrica</a:t>
            </a:r>
            <a:r>
              <a:rPr lang="pt-BR" b="0" dirty="0"/>
              <a:t> que executam as inspeções</a:t>
            </a:r>
          </a:p>
          <a:p>
            <a:pPr marL="502920" indent="-502920">
              <a:spcAft>
                <a:spcPts val="2400"/>
              </a:spcAft>
              <a:buFont typeface="Arial"/>
              <a:buChar char="•"/>
            </a:pPr>
            <a:r>
              <a:rPr lang="pt-BR" b="1" dirty="0"/>
              <a:t>339 mil empresas</a:t>
            </a:r>
            <a:r>
              <a:rPr lang="pt-BR" b="0" dirty="0"/>
              <a:t> na indústria de transformação no Brasil*</a:t>
            </a:r>
          </a:p>
        </p:txBody>
      </p:sp>
      <p:sp>
        <p:nvSpPr>
          <p:cNvPr id="109" name="Título do seu Pitch"/>
          <p:cNvSpPr txBox="1"/>
          <p:nvPr/>
        </p:nvSpPr>
        <p:spPr>
          <a:xfrm rot="16200000">
            <a:off x="-1334228" y="7632646"/>
            <a:ext cx="4031060" cy="547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00E88F"/>
                </a:solidFill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FPM · Manutenção Preventiva</a:t>
            </a:r>
          </a:p>
        </p:txBody>
      </p:sp>
      <p:sp>
        <p:nvSpPr>
          <p:cNvPr id="110" name="Painel"/>
          <p:cNvSpPr/>
          <p:nvPr/>
        </p:nvSpPr>
        <p:spPr>
          <a:xfrm>
            <a:off x="14154912" y="0"/>
            <a:ext cx="10229392" cy="1371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4977872" y="1280160"/>
            <a:ext cx="85834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spc="0">
                <a:solidFill>
                  <a:srgbClr val="212121"/>
                </a:solidFill>
                <a:latin typeface="Helvetica"/>
              </a:rPr>
              <a:t>Os 5 equipamentos do foco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977872" y="2103120"/>
            <a:ext cx="858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spc="0">
                <a:solidFill>
                  <a:srgbClr val="5E5E5E"/>
                </a:solidFill>
                <a:latin typeface="Helvetica"/>
              </a:rPr>
              <a:t>cada tipo com seu checklist de inspeção</a:t>
            </a:r>
          </a:p>
        </p:txBody>
      </p:sp>
      <p:sp>
        <p:nvSpPr>
          <p:cNvPr id="114" name="Fonte"/>
          <p:cNvSpPr txBox="1"/>
          <p:nvPr/>
        </p:nvSpPr>
        <p:spPr>
          <a:xfrm>
            <a:off x="2505456" y="12755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 spc="0">
                <a:solidFill>
                  <a:srgbClr val="6B6B6B"/>
                </a:solidFill>
                <a:latin typeface="Arial"/>
              </a:rPr>
              <a:t>*Fonte: IBGE, Pesquisa Industrial Anual – Empresa 2022</a:t>
            </a:r>
          </a:p>
        </p:txBody>
      </p:sp>
      <p:sp>
        <p:nvSpPr>
          <p:cNvPr id="115" name="Equipamento 1"/>
          <p:cNvSpPr/>
          <p:nvPr/>
        </p:nvSpPr>
        <p:spPr>
          <a:xfrm>
            <a:off x="14977872" y="3108960"/>
            <a:ext cx="8586216" cy="1554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Número 1"/>
          <p:cNvSpPr/>
          <p:nvPr/>
        </p:nvSpPr>
        <p:spPr>
          <a:xfrm>
            <a:off x="15389351" y="3429000"/>
            <a:ext cx="914400" cy="914400"/>
          </a:xfrm>
          <a:prstGeom prst="ellipse">
            <a:avLst/>
          </a:prstGeom>
          <a:solidFill>
            <a:srgbClr val="00E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7" name="Nome 1"/>
          <p:cNvSpPr txBox="1"/>
          <p:nvPr/>
        </p:nvSpPr>
        <p:spPr>
          <a:xfrm>
            <a:off x="16760951" y="365760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 spc="0">
                <a:solidFill>
                  <a:srgbClr val="212121"/>
                </a:solidFill>
                <a:latin typeface="Arial"/>
              </a:rPr>
              <a:t>Motores elétricos</a:t>
            </a:r>
          </a:p>
        </p:txBody>
      </p:sp>
      <p:sp>
        <p:nvSpPr>
          <p:cNvPr id="118" name="Equipamento 2"/>
          <p:cNvSpPr/>
          <p:nvPr/>
        </p:nvSpPr>
        <p:spPr>
          <a:xfrm>
            <a:off x="14977872" y="4983479"/>
            <a:ext cx="8586216" cy="1554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Número 2"/>
          <p:cNvSpPr/>
          <p:nvPr/>
        </p:nvSpPr>
        <p:spPr>
          <a:xfrm>
            <a:off x="15389351" y="5303519"/>
            <a:ext cx="914400" cy="914400"/>
          </a:xfrm>
          <a:prstGeom prst="ellipse">
            <a:avLst/>
          </a:prstGeom>
          <a:solidFill>
            <a:srgbClr val="00E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20" name="Nome 2"/>
          <p:cNvSpPr txBox="1"/>
          <p:nvPr/>
        </p:nvSpPr>
        <p:spPr>
          <a:xfrm>
            <a:off x="16760951" y="5532119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 spc="0">
                <a:solidFill>
                  <a:srgbClr val="212121"/>
                </a:solidFill>
                <a:latin typeface="Arial"/>
              </a:rPr>
              <a:t>Compressores de ar</a:t>
            </a:r>
          </a:p>
        </p:txBody>
      </p:sp>
      <p:sp>
        <p:nvSpPr>
          <p:cNvPr id="121" name="Equipamento 3"/>
          <p:cNvSpPr/>
          <p:nvPr/>
        </p:nvSpPr>
        <p:spPr>
          <a:xfrm>
            <a:off x="14977872" y="6858000"/>
            <a:ext cx="8586216" cy="1554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Número 3"/>
          <p:cNvSpPr/>
          <p:nvPr/>
        </p:nvSpPr>
        <p:spPr>
          <a:xfrm>
            <a:off x="15389351" y="7178040"/>
            <a:ext cx="914400" cy="914400"/>
          </a:xfrm>
          <a:prstGeom prst="ellipse">
            <a:avLst/>
          </a:prstGeom>
          <a:solidFill>
            <a:srgbClr val="00E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23" name="Nome 3"/>
          <p:cNvSpPr txBox="1"/>
          <p:nvPr/>
        </p:nvSpPr>
        <p:spPr>
          <a:xfrm>
            <a:off x="16760951" y="740664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 spc="0">
                <a:solidFill>
                  <a:srgbClr val="212121"/>
                </a:solidFill>
                <a:latin typeface="Arial"/>
              </a:rPr>
              <a:t>Bombas industriais</a:t>
            </a:r>
          </a:p>
        </p:txBody>
      </p:sp>
      <p:sp>
        <p:nvSpPr>
          <p:cNvPr id="124" name="Equipamento 4"/>
          <p:cNvSpPr/>
          <p:nvPr/>
        </p:nvSpPr>
        <p:spPr>
          <a:xfrm>
            <a:off x="14977872" y="8732519"/>
            <a:ext cx="8586216" cy="1554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Número 4"/>
          <p:cNvSpPr/>
          <p:nvPr/>
        </p:nvSpPr>
        <p:spPr>
          <a:xfrm>
            <a:off x="15389351" y="9052559"/>
            <a:ext cx="914400" cy="914400"/>
          </a:xfrm>
          <a:prstGeom prst="ellipse">
            <a:avLst/>
          </a:prstGeom>
          <a:solidFill>
            <a:srgbClr val="00E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26" name="Nome 4"/>
          <p:cNvSpPr txBox="1"/>
          <p:nvPr/>
        </p:nvSpPr>
        <p:spPr>
          <a:xfrm>
            <a:off x="16760951" y="9281159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 spc="0">
                <a:solidFill>
                  <a:srgbClr val="212121"/>
                </a:solidFill>
                <a:latin typeface="Arial"/>
              </a:rPr>
              <a:t>Esteiras transportadoras</a:t>
            </a:r>
          </a:p>
        </p:txBody>
      </p:sp>
      <p:sp>
        <p:nvSpPr>
          <p:cNvPr id="127" name="Equipamento 5"/>
          <p:cNvSpPr/>
          <p:nvPr/>
        </p:nvSpPr>
        <p:spPr>
          <a:xfrm>
            <a:off x="14977872" y="10607040"/>
            <a:ext cx="8586216" cy="15544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Número 5"/>
          <p:cNvSpPr/>
          <p:nvPr/>
        </p:nvSpPr>
        <p:spPr>
          <a:xfrm>
            <a:off x="15389351" y="10927080"/>
            <a:ext cx="914400" cy="914400"/>
          </a:xfrm>
          <a:prstGeom prst="ellipse">
            <a:avLst/>
          </a:prstGeom>
          <a:solidFill>
            <a:srgbClr val="00E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29" name="Nome 5"/>
          <p:cNvSpPr txBox="1"/>
          <p:nvPr/>
        </p:nvSpPr>
        <p:spPr>
          <a:xfrm>
            <a:off x="16760951" y="1115568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 spc="0">
                <a:solidFill>
                  <a:srgbClr val="212121"/>
                </a:solidFill>
                <a:latin typeface="Arial"/>
              </a:rPr>
              <a:t>Painéis elétricos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PROPOSTA DE SOLUÇÃO"/>
          <p:cNvSpPr txBox="1"/>
          <p:nvPr/>
        </p:nvSpPr>
        <p:spPr>
          <a:xfrm>
            <a:off x="2494421" y="1432887"/>
            <a:ext cx="19371387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t>PROPOSTA DE SOLUÇÃO</a:t>
            </a:r>
          </a:p>
        </p:txBody>
      </p:sp>
      <p:sp>
        <p:nvSpPr>
          <p:cNvPr id="113" name="Sugerimos que aqui você comece a desenvolver sua proposta de solução. Precisa ser um texto objetivo. Recomendamos que o desenvolvimento da sua proposta seja aprofundado durante sua fala na apresentação.…"/>
          <p:cNvSpPr txBox="1"/>
          <p:nvPr/>
        </p:nvSpPr>
        <p:spPr>
          <a:xfrm>
            <a:off x="2506306" y="3566160"/>
            <a:ext cx="11521440" cy="4555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spcAft>
                <a:spcPts val="2400"/>
              </a:spcAft>
              <a:buClr>
                <a:srgbClr val="ADADAD"/>
              </a:buClr>
              <a:buFont typeface="Arial"/>
              <a:defRPr sz="4000" spc="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pt-BR" b="0"/>
              <a:t>Sistema web que automatiza a preventiva dos 5 equipamentos mais críticos: agenda sozinho, padroniza a inspeção e avisa antes do prazo vencer.</a:t>
            </a:r>
          </a:p>
        </p:txBody>
      </p:sp>
      <p:sp>
        <p:nvSpPr>
          <p:cNvPr id="114" name="Título do seu Pitch"/>
          <p:cNvSpPr txBox="1"/>
          <p:nvPr/>
        </p:nvSpPr>
        <p:spPr>
          <a:xfrm rot="16200000">
            <a:off x="-1334228" y="7632646"/>
            <a:ext cx="4031060" cy="547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00E88F"/>
                </a:solidFill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FPM · Manutenção Preventiva</a:t>
            </a:r>
          </a:p>
        </p:txBody>
      </p:sp>
      <p:sp>
        <p:nvSpPr>
          <p:cNvPr id="115" name="Card Agenda automática"/>
          <p:cNvSpPr/>
          <p:nvPr/>
        </p:nvSpPr>
        <p:spPr>
          <a:xfrm>
            <a:off x="2505456" y="768096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00E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916936" y="80010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916936" y="9235440"/>
            <a:ext cx="3749039" cy="11887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400" b="1" spc="0">
                <a:solidFill>
                  <a:srgbClr val="000000"/>
                </a:solidFill>
                <a:latin typeface="Helvetica"/>
              </a:rPr>
              <a:t>Agenda automática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916936" y="10652760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spc="0">
                <a:solidFill>
                  <a:srgbClr val="212121"/>
                </a:solidFill>
                <a:latin typeface="Helvetica"/>
              </a:rPr>
              <a:t>a próxima manutenção nasce sozinha</a:t>
            </a:r>
          </a:p>
        </p:txBody>
      </p:sp>
      <p:sp>
        <p:nvSpPr>
          <p:cNvPr id="119" name="Card Checklist por tipo"/>
          <p:cNvSpPr/>
          <p:nvPr/>
        </p:nvSpPr>
        <p:spPr>
          <a:xfrm>
            <a:off x="7443216" y="768096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854696" y="80010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54696" y="9235440"/>
            <a:ext cx="3749039" cy="11887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400" b="1" spc="0">
                <a:solidFill>
                  <a:srgbClr val="000000"/>
                </a:solidFill>
                <a:latin typeface="Helvetica"/>
              </a:rPr>
              <a:t>Checklist por tipo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854696" y="10652760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spc="0">
                <a:solidFill>
                  <a:srgbClr val="212121"/>
                </a:solidFill>
                <a:latin typeface="Helvetica"/>
              </a:rPr>
              <a:t>inspeção padronizada por equipamento</a:t>
            </a:r>
          </a:p>
        </p:txBody>
      </p:sp>
      <p:sp>
        <p:nvSpPr>
          <p:cNvPr id="123" name="Card Alertas visuais"/>
          <p:cNvSpPr/>
          <p:nvPr/>
        </p:nvSpPr>
        <p:spPr>
          <a:xfrm>
            <a:off x="12380976" y="768096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2792456" y="80010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792456" y="9235440"/>
            <a:ext cx="3749039" cy="11887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400" b="1" spc="0">
                <a:solidFill>
                  <a:srgbClr val="000000"/>
                </a:solidFill>
                <a:latin typeface="Helvetica"/>
              </a:rPr>
              <a:t>Alertas visuais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792456" y="10652760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spc="0">
                <a:solidFill>
                  <a:srgbClr val="212121"/>
                </a:solidFill>
                <a:latin typeface="Helvetica"/>
              </a:rPr>
              <a:t>vencidas e a vencer em destaque</a:t>
            </a:r>
          </a:p>
        </p:txBody>
      </p:sp>
      <p:sp>
        <p:nvSpPr>
          <p:cNvPr id="127" name="Card Histórico auditável"/>
          <p:cNvSpPr/>
          <p:nvPr/>
        </p:nvSpPr>
        <p:spPr>
          <a:xfrm>
            <a:off x="17318736" y="768096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7730216" y="80010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7730216" y="9235440"/>
            <a:ext cx="3749039" cy="11887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400" b="1" spc="0">
                <a:solidFill>
                  <a:srgbClr val="000000"/>
                </a:solidFill>
                <a:latin typeface="Helvetica"/>
              </a:rPr>
              <a:t>Histórico auditável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7730216" y="10652760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spc="0">
                <a:solidFill>
                  <a:srgbClr val="212121"/>
                </a:solidFill>
                <a:latin typeface="Helvetica"/>
              </a:rPr>
              <a:t>registro para ISO e NRs</a:t>
            </a:r>
          </a:p>
        </p:txBody>
      </p:sp>
      <p:pic>
        <p:nvPicPr>
          <p:cNvPr id="131" name="Print Dashboard" descr="Tela do dashboard do FPM com manutenções vencidas, a vencer e corretivas abert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5536" y="3291840"/>
            <a:ext cx="7315200" cy="4114800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SOLUÇÃO NA PRÁTICA"/>
          <p:cNvSpPr txBox="1"/>
          <p:nvPr/>
        </p:nvSpPr>
        <p:spPr>
          <a:xfrm>
            <a:off x="2494421" y="1432887"/>
            <a:ext cx="9139880" cy="2943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t>SOLUÇÃO NA PRÁTICA</a:t>
            </a:r>
          </a:p>
        </p:txBody>
      </p:sp>
      <p:sp>
        <p:nvSpPr>
          <p:cNvPr id="118" name="Insira aqui uma lista em forma de tópicos"/>
          <p:cNvSpPr txBox="1"/>
          <p:nvPr/>
        </p:nvSpPr>
        <p:spPr>
          <a:xfrm>
            <a:off x="2506306" y="4719635"/>
            <a:ext cx="9139880" cy="1126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4000" spc="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502920" indent="-502920">
              <a:spcAft>
                <a:spcPts val="2000"/>
              </a:spcAft>
              <a:buFont typeface="Arial"/>
              <a:buChar char="•"/>
            </a:pPr>
            <a:r>
              <a:rPr lang="pt-BR" b="1"/>
              <a:t>Cadastra </a:t>
            </a:r>
            <a:r>
              <a:rPr lang="pt-BR" b="0"/>
              <a:t>o equipamento: tipo, local e criticidade</a:t>
            </a:r>
          </a:p>
          <a:p>
            <a:pPr marL="502920" indent="-502920">
              <a:spcAft>
                <a:spcPts val="2000"/>
              </a:spcAft>
              <a:buFont typeface="Arial"/>
              <a:buChar char="•"/>
            </a:pPr>
            <a:r>
              <a:rPr lang="pt-BR" b="1"/>
              <a:t>Agenda: </a:t>
            </a:r>
            <a:r>
              <a:rPr lang="pt-BR" b="0"/>
              <a:t>a próxima preventiva nasce sozinha</a:t>
            </a:r>
          </a:p>
          <a:p>
            <a:pPr marL="502920" indent="-502920">
              <a:spcAft>
                <a:spcPts val="2000"/>
              </a:spcAft>
              <a:buFont typeface="Arial"/>
              <a:buChar char="•"/>
            </a:pPr>
            <a:r>
              <a:rPr lang="pt-BR" b="1"/>
              <a:t>Escaneia: </a:t>
            </a:r>
            <a:r>
              <a:rPr lang="pt-BR" b="0"/>
              <a:t>o QR Code na máquina abre a pendência</a:t>
            </a:r>
          </a:p>
          <a:p>
            <a:pPr marL="502920" indent="-502920">
              <a:spcAft>
                <a:spcPts val="2000"/>
              </a:spcAft>
              <a:buFont typeface="Arial"/>
              <a:buChar char="•"/>
            </a:pPr>
            <a:r>
              <a:rPr lang="pt-BR" b="1"/>
              <a:t>Inspeciona: </a:t>
            </a:r>
            <a:r>
              <a:rPr lang="pt-BR" b="0"/>
              <a:t>item Não OK vira ordem corretiva</a:t>
            </a:r>
          </a:p>
          <a:p>
            <a:pPr marL="502920" indent="-502920">
              <a:spcAft>
                <a:spcPts val="2000"/>
              </a:spcAft>
              <a:buFont typeface="Arial"/>
              <a:buChar char="•"/>
            </a:pPr>
            <a:r>
              <a:rPr lang="pt-BR" b="1"/>
              <a:t>Mede: </a:t>
            </a:r>
            <a:r>
              <a:rPr lang="pt-BR" b="0"/>
              <a:t>paradas, MTBF, MTTR e cumprimento do plano</a:t>
            </a:r>
          </a:p>
        </p:txBody>
      </p:sp>
      <p:sp>
        <p:nvSpPr>
          <p:cNvPr id="121" name="Título do seu Pitch"/>
          <p:cNvSpPr txBox="1"/>
          <p:nvPr/>
        </p:nvSpPr>
        <p:spPr>
          <a:xfrm rot="16200000">
            <a:off x="-1334228" y="7632646"/>
            <a:ext cx="4031060" cy="547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00E88F"/>
                </a:solidFill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FPM · Manutenção Preventiva</a:t>
            </a:r>
          </a:p>
        </p:txBody>
      </p:sp>
      <p:sp>
        <p:nvSpPr>
          <p:cNvPr id="122" name="Painel"/>
          <p:cNvSpPr/>
          <p:nvPr/>
        </p:nvSpPr>
        <p:spPr>
          <a:xfrm>
            <a:off x="14154912" y="0"/>
            <a:ext cx="10229392" cy="1371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4886432" y="777240"/>
            <a:ext cx="876909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spc="0">
                <a:solidFill>
                  <a:srgbClr val="00E88F"/>
                </a:solidFill>
                <a:latin typeface="Helvetica"/>
              </a:rPr>
              <a:t>Checklist com resultado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4886432" y="7040880"/>
            <a:ext cx="876909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spc="0">
                <a:solidFill>
                  <a:srgbClr val="00E88F"/>
                </a:solidFill>
                <a:latin typeface="Helvetica"/>
              </a:rPr>
              <a:t>No celular, pelo QR Code</a:t>
            </a:r>
          </a:p>
        </p:txBody>
      </p:sp>
      <p:pic>
        <p:nvPicPr>
          <p:cNvPr id="149" name="Print Checklist" descr="Registro de preventiva com item Não OK e aviso de ordem corretiv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6432" y="1554480"/>
            <a:ext cx="8769096" cy="4932616"/>
          </a:xfrm>
          <a:prstGeom prst="rect">
            <a:avLst/>
          </a:prstGeom>
          <a:ln w="19050">
            <a:solidFill>
              <a:srgbClr val="6F6F90"/>
            </a:solidFill>
          </a:ln>
        </p:spPr>
      </p:pic>
      <p:pic>
        <p:nvPicPr>
          <p:cNvPr id="150" name="Print Celular" descr="Checklist aberto no celular após ler o QR Code do equipamen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6432" y="7818120"/>
            <a:ext cx="2538602" cy="5166360"/>
          </a:xfrm>
          <a:prstGeom prst="rect">
            <a:avLst/>
          </a:prstGeom>
          <a:ln w="19050">
            <a:solidFill>
              <a:srgbClr val="6F6F90"/>
            </a:solidFill>
          </a:ln>
        </p:spPr>
      </p:pic>
      <p:pic>
        <p:nvPicPr>
          <p:cNvPr id="151" name="Etiqueta QR" descr="Etiqueta com QR Code do equipamento Motor Auxiliar Linha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5080" y="7818120"/>
            <a:ext cx="5870448" cy="1680560"/>
          </a:xfrm>
          <a:prstGeom prst="rect">
            <a:avLst/>
          </a:prstGeom>
        </p:spPr>
      </p:pic>
      <p:sp>
        <p:nvSpPr>
          <p:cNvPr id="152" name="Legenda QR"/>
          <p:cNvSpPr txBox="1"/>
          <p:nvPr/>
        </p:nvSpPr>
        <p:spPr>
          <a:xfrm>
            <a:off x="17785080" y="9829800"/>
            <a:ext cx="587044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600" b="1" spc="0">
                <a:solidFill>
                  <a:srgbClr val="FFFFFF"/>
                </a:solidFill>
                <a:latin typeface="Arial"/>
              </a:rPr>
              <a:t>Colou na máquina, </a:t>
            </a:r>
            <a:r>
              <a:rPr sz="2600" b="0" spc="0">
                <a:solidFill>
                  <a:srgbClr val="D9D9D9"/>
                </a:solidFill>
                <a:latin typeface="Arial"/>
              </a:rPr>
              <a:t>escaneou: o celular abre a manutenção pendente.</a:t>
            </a:r>
          </a:p>
          <a:p>
            <a:pPr>
              <a:spcAft>
                <a:spcPts val="1400"/>
              </a:spcAft>
            </a:pPr>
            <a:r>
              <a:rPr sz="2600" b="1" spc="0">
                <a:solidFill>
                  <a:srgbClr val="FFFFFF"/>
                </a:solidFill>
                <a:latin typeface="Arial"/>
              </a:rPr>
              <a:t>Achou problema? </a:t>
            </a:r>
            <a:r>
              <a:rPr sz="2600" b="0" spc="0">
                <a:solidFill>
                  <a:srgbClr val="D9D9D9"/>
                </a:solidFill>
                <a:latin typeface="Arial"/>
              </a:rPr>
              <a:t>A ordem corretiva nasce na hora.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ÍTULO DO SLIDE"/>
          <p:cNvSpPr txBox="1"/>
          <p:nvPr/>
        </p:nvSpPr>
        <p:spPr>
          <a:xfrm>
            <a:off x="2494421" y="1432887"/>
            <a:ext cx="10955238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t>IMPACTO</a:t>
            </a:r>
          </a:p>
        </p:txBody>
      </p:sp>
      <p:sp>
        <p:nvSpPr>
          <p:cNvPr id="132" name="Breve texto sobre o que está sendo abordado"/>
          <p:cNvSpPr txBox="1"/>
          <p:nvPr/>
        </p:nvSpPr>
        <p:spPr>
          <a:xfrm>
            <a:off x="2506306" y="3501068"/>
            <a:ext cx="9139880" cy="112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4000" spc="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spcAft>
                <a:spcPts val="2400"/>
              </a:spcAft>
            </a:pPr>
            <a:r>
              <a:rPr lang="pt-BR" b="1"/>
              <a:t>12% a 18% de economia </a:t>
            </a:r>
            <a:r>
              <a:rPr lang="pt-BR" b="0"/>
              <a:t>ao trocar a manutenção só corretiva pela preventiva*</a:t>
            </a:r>
          </a:p>
          <a:p>
            <a:pPr>
              <a:spcAft>
                <a:spcPts val="2400"/>
              </a:spcAft>
            </a:pPr>
            <a:r>
              <a:rPr lang="pt-BR" b="1"/>
              <a:t>Menos falhas e vida útil maior </a:t>
            </a:r>
            <a:r>
              <a:rPr lang="pt-BR" b="0"/>
              <a:t>dos equipamentos*</a:t>
            </a:r>
          </a:p>
          <a:p>
            <a:pPr>
              <a:spcAft>
                <a:spcPts val="2400"/>
              </a:spcAft>
            </a:pPr>
            <a:r>
              <a:rPr lang="pt-BR" b="1"/>
              <a:t>Simulação do autor: </a:t>
            </a:r>
            <a:r>
              <a:rPr lang="pt-BR" b="0"/>
              <a:t>fábrica de médio porte com 50 equipamentos críticos, payback em 1 mês</a:t>
            </a:r>
          </a:p>
        </p:txBody>
      </p:sp>
      <p:sp>
        <p:nvSpPr>
          <p:cNvPr id="135" name="Título do seu Pitch"/>
          <p:cNvSpPr txBox="1"/>
          <p:nvPr/>
        </p:nvSpPr>
        <p:spPr>
          <a:xfrm rot="16200000">
            <a:off x="-1334228" y="7632646"/>
            <a:ext cx="4031060" cy="547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00E88F"/>
                </a:solidFill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FPM · Manutenção Preventiva</a:t>
            </a:r>
          </a:p>
        </p:txBody>
      </p:sp>
      <p:sp>
        <p:nvSpPr>
          <p:cNvPr id="136" name="Painel"/>
          <p:cNvSpPr/>
          <p:nvPr/>
        </p:nvSpPr>
        <p:spPr>
          <a:xfrm>
            <a:off x="14154912" y="0"/>
            <a:ext cx="10229392" cy="13716000"/>
          </a:xfrm>
          <a:prstGeom prst="rect">
            <a:avLst/>
          </a:prstGeom>
          <a:solidFill>
            <a:srgbClr val="00E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4977872" y="1188720"/>
            <a:ext cx="858347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000000"/>
                </a:solidFill>
              </a:rPr>
              <a:t>1.150%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4977872" y="3108960"/>
            <a:ext cx="8583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spc="0">
                <a:solidFill>
                  <a:srgbClr val="000000"/>
                </a:solidFill>
                <a:latin typeface="Helvetica"/>
              </a:rPr>
              <a:t>de retorno sobre o investimento (ROI) — simulação do autor</a:t>
            </a:r>
          </a:p>
        </p:txBody>
      </p:sp>
      <p:graphicFrame>
        <p:nvGraphicFramePr>
          <p:cNvPr id="139" name="Chart 138"/>
          <p:cNvGraphicFramePr>
            <a:graphicFrameLocks noGrp="1"/>
          </p:cNvGraphicFramePr>
          <p:nvPr/>
        </p:nvGraphicFramePr>
        <p:xfrm>
          <a:off x="14703552" y="4206240"/>
          <a:ext cx="9132112" cy="877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0" name="Fonte"/>
          <p:cNvSpPr txBox="1"/>
          <p:nvPr/>
        </p:nvSpPr>
        <p:spPr>
          <a:xfrm>
            <a:off x="2505456" y="127558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 spc="0">
                <a:solidFill>
                  <a:srgbClr val="6B6B6B"/>
                </a:solidFill>
                <a:latin typeface="Arial"/>
              </a:rPr>
              <a:t>*Fonte: U.S. DOE / FEMP, O&amp;M Best Practices Guide, Release 3.0 (2010)</a:t>
            </a:r>
          </a:p>
        </p:txBody>
      </p:sp>
      <p:sp>
        <p:nvSpPr>
          <p:cNvPr id="141" name="Fonte"/>
          <p:cNvSpPr txBox="1"/>
          <p:nvPr/>
        </p:nvSpPr>
        <p:spPr>
          <a:xfrm>
            <a:off x="14977872" y="12984480"/>
            <a:ext cx="8586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 spc="0">
                <a:solidFill>
                  <a:srgbClr val="212121"/>
                </a:solidFill>
                <a:latin typeface="Arial"/>
              </a:rPr>
              <a:t>Cenário hipotético do autor, não é dado medido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ÍTULO DO SLIDE"/>
          <p:cNvSpPr txBox="1"/>
          <p:nvPr/>
        </p:nvSpPr>
        <p:spPr>
          <a:xfrm>
            <a:off x="2494421" y="1432887"/>
            <a:ext cx="10955240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t>MODELO DE NEGÓCIO</a:t>
            </a:r>
          </a:p>
        </p:txBody>
      </p:sp>
      <p:sp>
        <p:nvSpPr>
          <p:cNvPr id="138" name="Breve texto sobre o que está sendo abordado"/>
          <p:cNvSpPr txBox="1"/>
          <p:nvPr/>
        </p:nvSpPr>
        <p:spPr>
          <a:xfrm>
            <a:off x="2506306" y="3501068"/>
            <a:ext cx="9139880" cy="112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4000" spc="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spcAft>
                <a:spcPts val="2400"/>
              </a:spcAft>
            </a:pPr>
            <a:r>
              <a:t>SaaS por assinatura mensal, com plano gratuito para reduzir a barreira de entrada nas PMEs.</a:t>
            </a:r>
          </a:p>
          <a:p>
            <a:pPr>
              <a:spcAft>
                <a:spcPts val="2400"/>
              </a:spcAft>
            </a:pPr>
            <a:r>
              <a:rPr b="1"/>
              <a:t>TAM: R$ 4,1 bi/ano </a:t>
            </a:r>
            <a:r>
              <a:rPr b="0"/>
              <a:t>— 339 mil empresas*</a:t>
            </a:r>
          </a:p>
          <a:p>
            <a:pPr>
              <a:spcAft>
                <a:spcPts val="2400"/>
              </a:spcAft>
            </a:pPr>
            <a:r>
              <a:rPr b="1"/>
              <a:t>SAM: R$ 410 mi/ano </a:t>
            </a:r>
            <a:r>
              <a:rPr b="0"/>
              <a:t>— fábricas com 50+ equipamentos críticos</a:t>
            </a:r>
          </a:p>
          <a:p>
            <a:pPr>
              <a:spcAft>
                <a:spcPts val="2400"/>
              </a:spcAft>
            </a:pPr>
            <a:r>
              <a:rPr b="1"/>
              <a:t>SOM: R$ 3,6 mi/ano </a:t>
            </a:r>
            <a:r>
              <a:rPr b="0"/>
              <a:t>— meta de 1.000 clientes no 1º ano</a:t>
            </a:r>
          </a:p>
        </p:txBody>
      </p:sp>
      <p:sp>
        <p:nvSpPr>
          <p:cNvPr id="141" name="Título do seu Pitch"/>
          <p:cNvSpPr txBox="1"/>
          <p:nvPr/>
        </p:nvSpPr>
        <p:spPr>
          <a:xfrm rot="16200000">
            <a:off x="-1334228" y="7632646"/>
            <a:ext cx="4031060" cy="547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lnSpc>
                <a:spcPct val="100000"/>
              </a:lnSpc>
              <a:spcBef>
                <a:spcPts val="0"/>
              </a:spcBef>
              <a:defRPr sz="2400" spc="0"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FPM · Manutenção Preventiva</a:t>
            </a:r>
          </a:p>
        </p:txBody>
      </p:sp>
      <p:sp>
        <p:nvSpPr>
          <p:cNvPr id="142" name="Painel"/>
          <p:cNvSpPr/>
          <p:nvPr/>
        </p:nvSpPr>
        <p:spPr>
          <a:xfrm>
            <a:off x="14154912" y="0"/>
            <a:ext cx="10229392" cy="1371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Plano Free"/>
          <p:cNvSpPr/>
          <p:nvPr/>
        </p:nvSpPr>
        <p:spPr>
          <a:xfrm>
            <a:off x="14886432" y="1188720"/>
            <a:ext cx="8766352" cy="356616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5435072" y="155448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spc="0">
                <a:solidFill>
                  <a:srgbClr val="00E88F"/>
                </a:solidFill>
                <a:latin typeface="Helvetica"/>
              </a:rPr>
              <a:t>Free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5435072" y="2286000"/>
            <a:ext cx="766907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R$ 0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5435072" y="3611880"/>
            <a:ext cx="76690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spc="0">
                <a:solidFill>
                  <a:srgbClr val="FFFFFF"/>
                </a:solidFill>
                <a:latin typeface="Helvetica"/>
              </a:rPr>
              <a:t>até 10 equipamentos · 1 usuário</a:t>
            </a:r>
          </a:p>
        </p:txBody>
      </p:sp>
      <p:sp>
        <p:nvSpPr>
          <p:cNvPr id="147" name="Plano Pro"/>
          <p:cNvSpPr/>
          <p:nvPr/>
        </p:nvSpPr>
        <p:spPr>
          <a:xfrm>
            <a:off x="14886432" y="5120640"/>
            <a:ext cx="8766352" cy="3566160"/>
          </a:xfrm>
          <a:prstGeom prst="roundRect">
            <a:avLst>
              <a:gd name="adj" fmla="val 8000"/>
            </a:avLst>
          </a:prstGeom>
          <a:solidFill>
            <a:srgbClr val="00E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5435072" y="548640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spc="0">
                <a:solidFill>
                  <a:srgbClr val="000000"/>
                </a:solidFill>
                <a:latin typeface="Helvetica"/>
              </a:rPr>
              <a:t>Pro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5435072" y="6217920"/>
            <a:ext cx="766907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000000"/>
                </a:solidFill>
              </a:rPr>
              <a:t>R$ 199/mês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5435072" y="7543800"/>
            <a:ext cx="76690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spc="0">
                <a:solidFill>
                  <a:srgbClr val="000000"/>
                </a:solidFill>
                <a:latin typeface="Helvetica"/>
              </a:rPr>
              <a:t>equipamentos ilimitados · 5 usuários · relatórios</a:t>
            </a:r>
          </a:p>
        </p:txBody>
      </p:sp>
      <p:sp>
        <p:nvSpPr>
          <p:cNvPr id="151" name="Plano Enterprise"/>
          <p:cNvSpPr/>
          <p:nvPr/>
        </p:nvSpPr>
        <p:spPr>
          <a:xfrm>
            <a:off x="14886432" y="9052560"/>
            <a:ext cx="8766352" cy="356616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5435072" y="941832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spc="0">
                <a:solidFill>
                  <a:srgbClr val="00E88F"/>
                </a:solidFill>
                <a:latin typeface="Helvetica"/>
              </a:rPr>
              <a:t>Enterprise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435072" y="10149840"/>
            <a:ext cx="766907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R$ 999/mês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5435072" y="11475720"/>
            <a:ext cx="76690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spc="0">
                <a:solidFill>
                  <a:srgbClr val="FFFFFF"/>
                </a:solidFill>
                <a:latin typeface="Helvetica"/>
              </a:rPr>
              <a:t>multi-planta · API e ERP · suporte dedicado</a:t>
            </a:r>
          </a:p>
        </p:txBody>
      </p:sp>
      <p:sp>
        <p:nvSpPr>
          <p:cNvPr id="155" name="Fonte"/>
          <p:cNvSpPr txBox="1"/>
          <p:nvPr/>
        </p:nvSpPr>
        <p:spPr>
          <a:xfrm>
            <a:off x="2505456" y="127558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 spc="0">
                <a:solidFill>
                  <a:srgbClr val="212121"/>
                </a:solidFill>
                <a:latin typeface="Arial"/>
              </a:rPr>
              <a:t>Estimativas do autor. *Base de empresas: IBGE, PIA-Empresa 2022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TÍTULO DO SLIDE"/>
          <p:cNvSpPr txBox="1"/>
          <p:nvPr/>
        </p:nvSpPr>
        <p:spPr>
          <a:xfrm>
            <a:off x="2494421" y="1432887"/>
            <a:ext cx="10955239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69E597"/>
                </a:solidFill>
              </a:defRPr>
            </a:lvl1pPr>
          </a:lstStyle>
          <a:p>
            <a:r>
              <a:t>DIFERENCIAL</a:t>
            </a:r>
          </a:p>
        </p:txBody>
      </p:sp>
      <p:sp>
        <p:nvSpPr>
          <p:cNvPr id="145" name="Breve texto sobre o que está sendo abordado"/>
          <p:cNvSpPr txBox="1"/>
          <p:nvPr/>
        </p:nvSpPr>
        <p:spPr>
          <a:xfrm>
            <a:off x="2506306" y="3501068"/>
            <a:ext cx="9139880" cy="112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4000" spc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spcAft>
                <a:spcPts val="2400"/>
              </a:spcAft>
            </a:pPr>
            <a:r>
              <a:t>Hoje a concorrência são as planilhas (grátis, mas sem automação) e os sistemas de manutenção complexos (caros e lentos de implantar).</a:t>
            </a:r>
          </a:p>
          <a:p>
            <a:pPr>
              <a:spcAft>
                <a:spcPts val="2400"/>
              </a:spcAft>
            </a:pPr>
            <a:r>
              <a:t>O FPM é focado em 5 equipamentos críticos, implanta em 1 dia e qualquer técnico aprende em poucas horas.</a:t>
            </a:r>
          </a:p>
        </p:txBody>
      </p:sp>
      <p:sp>
        <p:nvSpPr>
          <p:cNvPr id="148" name="Título do seu Pitch"/>
          <p:cNvSpPr txBox="1"/>
          <p:nvPr/>
        </p:nvSpPr>
        <p:spPr>
          <a:xfrm rot="16200000">
            <a:off x="-1334228" y="7632646"/>
            <a:ext cx="4031060" cy="547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00E88F"/>
                </a:solidFill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FPM · Manutenção Preventiva</a:t>
            </a:r>
          </a:p>
        </p:txBody>
      </p:sp>
      <p:sp>
        <p:nvSpPr>
          <p:cNvPr id="149" name="Painel"/>
          <p:cNvSpPr/>
          <p:nvPr/>
        </p:nvSpPr>
        <p:spPr>
          <a:xfrm>
            <a:off x="14154912" y="0"/>
            <a:ext cx="10229392" cy="137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0" name="Table 149"/>
          <p:cNvGraphicFramePr>
            <a:graphicFrameLocks noGrp="1"/>
          </p:cNvGraphicFramePr>
          <p:nvPr/>
        </p:nvGraphicFramePr>
        <p:xfrm>
          <a:off x="14703552" y="1828800"/>
          <a:ext cx="9132110" cy="8778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3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9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7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l">
                        <a:defRPr sz="2600" b="1">
                          <a:solidFill>
                            <a:srgbClr val="000000"/>
                          </a:solidFill>
                          <a:latin typeface="Helvetica"/>
                        </a:defRPr>
                      </a:pPr>
                      <a:endParaRPr/>
                    </a:p>
                  </a:txBody>
                  <a:tcPr marL="182880" marR="18288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FPM</a:t>
                      </a:r>
                    </a:p>
                  </a:txBody>
                  <a:tcPr marL="182880" marR="182880" anchor="ctr">
                    <a:solidFill>
                      <a:srgbClr val="00E8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Planilha</a:t>
                      </a:r>
                    </a:p>
                  </a:txBody>
                  <a:tcPr marL="182880" marR="18288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Sistemas complexos</a:t>
                      </a:r>
                    </a:p>
                  </a:txBody>
                  <a:tcPr marL="182880" marR="18288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Custo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Baixo</a:t>
                      </a:r>
                    </a:p>
                  </a:txBody>
                  <a:tcPr marL="182880" marR="182880" anchor="ctr">
                    <a:solidFill>
                      <a:srgbClr val="00E8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0" cap="none" spc="0">
                          <a:solidFill>
                            <a:srgbClr val="000000"/>
                          </a:solidFill>
                          <a:latin typeface="Helvetica"/>
                        </a:rPr>
                        <a:t>Zero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0" cap="none" spc="0">
                          <a:solidFill>
                            <a:srgbClr val="000000"/>
                          </a:solidFill>
                          <a:latin typeface="Helvetica"/>
                        </a:rPr>
                        <a:t>Alto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Implantação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1 dia</a:t>
                      </a:r>
                    </a:p>
                  </a:txBody>
                  <a:tcPr marL="182880" marR="182880" anchor="ctr">
                    <a:solidFill>
                      <a:srgbClr val="00E8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0" cap="none" spc="0">
                          <a:solidFill>
                            <a:srgbClr val="000000"/>
                          </a:solidFill>
                          <a:latin typeface="Helvetica"/>
                        </a:rPr>
                        <a:t>Imediata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0" cap="none" spc="0">
                          <a:solidFill>
                            <a:srgbClr val="000000"/>
                          </a:solidFill>
                          <a:latin typeface="Helvetica"/>
                        </a:rPr>
                        <a:t>3–6 meses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Aprendizado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2 horas</a:t>
                      </a:r>
                    </a:p>
                  </a:txBody>
                  <a:tcPr marL="182880" marR="182880" anchor="ctr">
                    <a:solidFill>
                      <a:srgbClr val="00E8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0" cap="none" spc="0">
                          <a:solidFill>
                            <a:srgbClr val="000000"/>
                          </a:solidFill>
                          <a:latin typeface="Helvetica"/>
                        </a:rPr>
                        <a:t>Nenhum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0" cap="none" spc="0">
                          <a:solidFill>
                            <a:srgbClr val="000000"/>
                          </a:solidFill>
                          <a:latin typeface="Helvetica"/>
                        </a:rPr>
                        <a:t>Semanas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Automação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Total</a:t>
                      </a:r>
                    </a:p>
                  </a:txBody>
                  <a:tcPr marL="182880" marR="182880" anchor="ctr">
                    <a:solidFill>
                      <a:srgbClr val="00E8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0" cap="none" spc="0">
                          <a:solidFill>
                            <a:srgbClr val="000000"/>
                          </a:solidFill>
                          <a:latin typeface="Helvetica"/>
                        </a:rPr>
                        <a:t>Nenhuma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0" cap="none" spc="0">
                          <a:solidFill>
                            <a:srgbClr val="000000"/>
                          </a:solidFill>
                          <a:latin typeface="Helvetica"/>
                        </a:rPr>
                        <a:t>Total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Foco industrial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1" cap="none" spc="0">
                          <a:solidFill>
                            <a:srgbClr val="000000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182880" marR="182880" anchor="ctr">
                    <a:solidFill>
                      <a:srgbClr val="00E8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0" cap="none" spc="0">
                          <a:solidFill>
                            <a:srgbClr val="000000"/>
                          </a:solidFill>
                          <a:latin typeface="Helvetica"/>
                        </a:rPr>
                        <a:t>Genérico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600" b="0" cap="none" spc="0">
                          <a:solidFill>
                            <a:srgbClr val="000000"/>
                          </a:solidFill>
                          <a:latin typeface="Helvetica"/>
                        </a:rPr>
                        <a:t>Genérico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1" name="Fonte"/>
          <p:cNvSpPr txBox="1"/>
          <p:nvPr/>
        </p:nvSpPr>
        <p:spPr>
          <a:xfrm>
            <a:off x="14703551" y="12755880"/>
            <a:ext cx="913485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 spc="0">
                <a:solidFill>
                  <a:srgbClr val="6B6B6B"/>
                </a:solidFill>
                <a:latin typeface="Arial"/>
              </a:rPr>
              <a:t>Comparação: análise do autor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ÍTULO DO SLIDE"/>
          <p:cNvSpPr txBox="1"/>
          <p:nvPr/>
        </p:nvSpPr>
        <p:spPr>
          <a:xfrm>
            <a:off x="2494421" y="1432887"/>
            <a:ext cx="10955238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t>PRÓXIMOS PASSOS</a:t>
            </a:r>
          </a:p>
        </p:txBody>
      </p:sp>
      <p:sp>
        <p:nvSpPr>
          <p:cNvPr id="132" name="Breve texto sobre o que está sendo abordado"/>
          <p:cNvSpPr txBox="1"/>
          <p:nvPr/>
        </p:nvSpPr>
        <p:spPr>
          <a:xfrm>
            <a:off x="2506306" y="3501068"/>
            <a:ext cx="9139880" cy="112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4000" spc="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spcAft>
                <a:spcPts val="2400"/>
              </a:spcAft>
            </a:pPr>
            <a:r>
              <a:rPr lang="pt-BR" b="0"/>
              <a:t>MVP funcional, já medindo o próprio resultado:</a:t>
            </a:r>
          </a:p>
        </p:txBody>
      </p:sp>
      <p:sp>
        <p:nvSpPr>
          <p:cNvPr id="155" name="Pilotos e visão"/>
          <p:cNvSpPr txBox="1"/>
          <p:nvPr/>
        </p:nvSpPr>
        <p:spPr>
          <a:xfrm>
            <a:off x="2506306" y="10012680"/>
            <a:ext cx="9139880" cy="112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4000" spc="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spcAft>
                <a:spcPts val="2400"/>
              </a:spcAft>
            </a:pPr>
            <a:r>
              <a:rPr lang="pt-BR" b="1"/>
              <a:t>Pilotos </a:t>
            </a:r>
            <a:r>
              <a:rPr lang="pt-BR" b="0"/>
              <a:t>em 3 a 5 fábricas</a:t>
            </a:r>
          </a:p>
          <a:p>
            <a:pPr>
              <a:spcAft>
                <a:spcPts val="2400"/>
              </a:spcAft>
            </a:pPr>
            <a:r>
              <a:rPr lang="pt-BR" b="1"/>
              <a:t>Visão: </a:t>
            </a:r>
            <a:r>
              <a:rPr lang="pt-BR" b="0"/>
              <a:t>da preventiva para a preditiva</a:t>
            </a:r>
          </a:p>
        </p:txBody>
      </p:sp>
      <p:sp>
        <p:nvSpPr>
          <p:cNvPr id="135" name="Título do seu Pitch"/>
          <p:cNvSpPr txBox="1"/>
          <p:nvPr/>
        </p:nvSpPr>
        <p:spPr>
          <a:xfrm rot="16200000">
            <a:off x="-1334228" y="7632646"/>
            <a:ext cx="4031060" cy="547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00E88F"/>
                </a:solidFill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FPM · Manutenção Preventiva</a:t>
            </a:r>
          </a:p>
        </p:txBody>
      </p:sp>
      <p:sp>
        <p:nvSpPr>
          <p:cNvPr id="136" name="Painel"/>
          <p:cNvSpPr/>
          <p:nvPr/>
        </p:nvSpPr>
        <p:spPr>
          <a:xfrm>
            <a:off x="14154912" y="0"/>
            <a:ext cx="10229392" cy="13716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7" name="Connector 136"/>
          <p:cNvCxnSpPr/>
          <p:nvPr/>
        </p:nvCxnSpPr>
        <p:spPr>
          <a:xfrm>
            <a:off x="15480792" y="1737360"/>
            <a:ext cx="0" cy="9784080"/>
          </a:xfrm>
          <a:prstGeom prst="line">
            <a:avLst/>
          </a:prstGeom>
          <a:ln w="50800">
            <a:solidFill>
              <a:srgbClr val="00E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14932151" y="1188720"/>
            <a:ext cx="1097280" cy="1097280"/>
          </a:xfrm>
          <a:prstGeom prst="ellipse">
            <a:avLst/>
          </a:prstGeom>
          <a:solidFill>
            <a:srgbClr val="00E88F"/>
          </a:solidFill>
          <a:ln w="50800">
            <a:solidFill>
              <a:srgbClr val="00E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4932151" y="118872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spc="0">
                <a:solidFill>
                  <a:srgbClr val="000000"/>
                </a:solidFill>
                <a:latin typeface="Helvetica"/>
              </a:rPr>
              <a:t>v1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6486632" y="1143000"/>
            <a:ext cx="72118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spc="0">
                <a:solidFill>
                  <a:srgbClr val="FFFFFF"/>
                </a:solidFill>
              </a:rPr>
              <a:t>Hoje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6486632" y="1920240"/>
            <a:ext cx="72118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spc="0">
                <a:solidFill>
                  <a:srgbClr val="C8C8C8"/>
                </a:solidFill>
                <a:latin typeface="Helvetica"/>
              </a:rPr>
              <a:t>agenda, checklist OK/Não OK, corretivas, paradas, indicadores e QR Code</a:t>
            </a:r>
          </a:p>
        </p:txBody>
      </p:sp>
      <p:sp>
        <p:nvSpPr>
          <p:cNvPr id="142" name="Oval 141"/>
          <p:cNvSpPr/>
          <p:nvPr/>
        </p:nvSpPr>
        <p:spPr>
          <a:xfrm>
            <a:off x="14932151" y="4206240"/>
            <a:ext cx="1097280" cy="1097280"/>
          </a:xfrm>
          <a:prstGeom prst="ellipse">
            <a:avLst/>
          </a:prstGeom>
          <a:solidFill>
            <a:srgbClr val="000000"/>
          </a:solidFill>
          <a:ln w="50800">
            <a:solidFill>
              <a:srgbClr val="00E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4932151" y="42062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spc="0">
                <a:solidFill>
                  <a:srgbClr val="00E88F"/>
                </a:solidFill>
                <a:latin typeface="Helvetica"/>
              </a:rPr>
              <a:t>v2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6486632" y="4160520"/>
            <a:ext cx="7211872" cy="609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spc="0" dirty="0" err="1">
                <a:solidFill>
                  <a:srgbClr val="FFFFFF"/>
                </a:solidFill>
              </a:rPr>
              <a:t>Adoção</a:t>
            </a:r>
            <a:endParaRPr sz="4400" b="1" spc="0" dirty="0">
              <a:solidFill>
                <a:srgbClr val="FFFFFF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6486632" y="4937759"/>
            <a:ext cx="72118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spc="0">
                <a:solidFill>
                  <a:srgbClr val="C8C8C8"/>
                </a:solidFill>
                <a:latin typeface="Helvetica"/>
              </a:rPr>
              <a:t>alertas por WhatsApp, uso offline no celular, relatórios PDF</a:t>
            </a:r>
          </a:p>
        </p:txBody>
      </p:sp>
      <p:sp>
        <p:nvSpPr>
          <p:cNvPr id="146" name="Oval 145"/>
          <p:cNvSpPr/>
          <p:nvPr/>
        </p:nvSpPr>
        <p:spPr>
          <a:xfrm>
            <a:off x="14932151" y="7223759"/>
            <a:ext cx="1097280" cy="1097280"/>
          </a:xfrm>
          <a:prstGeom prst="ellipse">
            <a:avLst/>
          </a:prstGeom>
          <a:solidFill>
            <a:srgbClr val="000000"/>
          </a:solidFill>
          <a:ln w="50800">
            <a:solidFill>
              <a:srgbClr val="00E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4932151" y="7223759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spc="0">
                <a:solidFill>
                  <a:srgbClr val="00E88F"/>
                </a:solidFill>
                <a:latin typeface="Helvetica"/>
              </a:rPr>
              <a:t>v3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6486632" y="7178040"/>
            <a:ext cx="72118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spc="0">
                <a:solidFill>
                  <a:srgbClr val="FFFFFF"/>
                </a:solidFill>
              </a:rPr>
              <a:t>Escala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6486632" y="7955279"/>
            <a:ext cx="72118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spc="0">
                <a:solidFill>
                  <a:srgbClr val="C8C8C8"/>
                </a:solidFill>
                <a:latin typeface="Helvetica"/>
              </a:rPr>
              <a:t>gestão de usuários e técnicos, várias plantas</a:t>
            </a:r>
          </a:p>
        </p:txBody>
      </p:sp>
      <p:sp>
        <p:nvSpPr>
          <p:cNvPr id="150" name="Oval 149"/>
          <p:cNvSpPr/>
          <p:nvPr/>
        </p:nvSpPr>
        <p:spPr>
          <a:xfrm>
            <a:off x="14932151" y="10241280"/>
            <a:ext cx="1097280" cy="1097280"/>
          </a:xfrm>
          <a:prstGeom prst="ellipse">
            <a:avLst/>
          </a:prstGeom>
          <a:solidFill>
            <a:srgbClr val="000000"/>
          </a:solidFill>
          <a:ln w="50800">
            <a:solidFill>
              <a:srgbClr val="00E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4932151" y="1024128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spc="0">
                <a:solidFill>
                  <a:srgbClr val="00E88F"/>
                </a:solidFill>
                <a:latin typeface="Helvetica"/>
              </a:rPr>
              <a:t>v4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6486632" y="10195559"/>
            <a:ext cx="72118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spc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486632" y="10972800"/>
            <a:ext cx="721187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spc="0">
                <a:solidFill>
                  <a:srgbClr val="C8C8C8"/>
                </a:solidFill>
                <a:latin typeface="Helvetica"/>
              </a:rPr>
              <a:t>sensores IoT, manutenção preditiva com IA, ERP</a:t>
            </a:r>
          </a:p>
        </p:txBody>
      </p:sp>
      <p:pic>
        <p:nvPicPr>
          <p:cNvPr id="154" name="Print Indicadores" descr="Aba Indicadores: cumprimento do plano, MTBF, MTTR, disponibilidade e paradas por mê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4846320"/>
            <a:ext cx="8412480" cy="4732020"/>
          </a:xfrm>
          <a:prstGeom prst="rect">
            <a:avLst/>
          </a:prstGeom>
          <a:ln w="19050">
            <a:solidFill>
              <a:srgbClr val="D9D9D9"/>
            </a:solidFill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06" y="12565030"/>
            <a:ext cx="673393" cy="762064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PROPOSTA DE SOLUÇÃO"/>
          <p:cNvSpPr txBox="1"/>
          <p:nvPr/>
        </p:nvSpPr>
        <p:spPr>
          <a:xfrm>
            <a:off x="2494421" y="1432887"/>
            <a:ext cx="19371387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r>
              <a:t>REFERÊNCIAS</a:t>
            </a:r>
          </a:p>
        </p:txBody>
      </p:sp>
      <p:sp>
        <p:nvSpPr>
          <p:cNvPr id="114" name="Título do seu Pitch"/>
          <p:cNvSpPr txBox="1"/>
          <p:nvPr/>
        </p:nvSpPr>
        <p:spPr>
          <a:xfrm rot="16200000">
            <a:off x="-1334228" y="7632646"/>
            <a:ext cx="4031060" cy="547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00E88F"/>
                </a:solidFill>
                <a:latin typeface="+mj-lt"/>
                <a:ea typeface="+mj-ea"/>
                <a:cs typeface="+mj-cs"/>
                <a:sym typeface="Aprova Sans Bold"/>
              </a:defRPr>
            </a:lvl1pPr>
          </a:lstStyle>
          <a:p>
            <a:r>
              <a:t>FPM · Manutenção Preventiva</a:t>
            </a:r>
          </a:p>
        </p:txBody>
      </p:sp>
      <p:sp>
        <p:nvSpPr>
          <p:cNvPr id="115" name="Lista de referências"/>
          <p:cNvSpPr txBox="1"/>
          <p:nvPr/>
        </p:nvSpPr>
        <p:spPr>
          <a:xfrm>
            <a:off x="2505456" y="3383280"/>
            <a:ext cx="19385280" cy="8778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 spc="0">
                <a:solidFill>
                  <a:srgbClr val="212121"/>
                </a:solidFill>
                <a:latin typeface="Arial"/>
              </a:rPr>
              <a:t>ABB. </a:t>
            </a:r>
            <a:r>
              <a:rPr sz="2400" b="0" spc="0">
                <a:solidFill>
                  <a:srgbClr val="212121"/>
                </a:solidFill>
                <a:latin typeface="Arial"/>
              </a:rPr>
              <a:t>Pesquisa Value of Reliability: inatividade não planejada custa US$ 125 mil por hora. Sapio Research, jul. 2023. Disponível em: new.abb.com/news/pt-br</a:t>
            </a:r>
          </a:p>
          <a:p>
            <a:pPr>
              <a:spcAft>
                <a:spcPts val="1400"/>
              </a:spcAft>
            </a:pPr>
            <a:r>
              <a:rPr sz="2400" b="1" spc="0">
                <a:solidFill>
                  <a:srgbClr val="212121"/>
                </a:solidFill>
                <a:latin typeface="Arial"/>
              </a:rPr>
              <a:t>ABRAMAN. </a:t>
            </a:r>
            <a:r>
              <a:rPr sz="2400" b="0" spc="0">
                <a:solidFill>
                  <a:srgbClr val="212121"/>
                </a:solidFill>
                <a:latin typeface="Arial"/>
              </a:rPr>
              <a:t>Documento Nacional 2009: a situação da manutenção no Brasil. Divulgado por TN Petróleo, 1 set. 2009. Disponível em: tnpetroleo.com.br</a:t>
            </a:r>
          </a:p>
          <a:p>
            <a:pPr>
              <a:spcAft>
                <a:spcPts val="1400"/>
              </a:spcAft>
            </a:pPr>
            <a:r>
              <a:rPr sz="2400" b="1" spc="0">
                <a:solidFill>
                  <a:srgbClr val="212121"/>
                </a:solidFill>
                <a:latin typeface="Arial"/>
              </a:rPr>
              <a:t>IBGE. </a:t>
            </a:r>
            <a:r>
              <a:rPr sz="2400" b="0" spc="0">
                <a:solidFill>
                  <a:srgbClr val="212121"/>
                </a:solidFill>
                <a:latin typeface="Arial"/>
              </a:rPr>
              <a:t>Pesquisa Industrial Anual – Empresa 2022. Rio de Janeiro: IBGE, 2024. Disponível em: biblioteca.ibge.gov.br</a:t>
            </a:r>
          </a:p>
          <a:p>
            <a:pPr>
              <a:spcAft>
                <a:spcPts val="1400"/>
              </a:spcAft>
            </a:pPr>
            <a:r>
              <a:rPr sz="2400" b="1" spc="0">
                <a:solidFill>
                  <a:srgbClr val="212121"/>
                </a:solidFill>
                <a:latin typeface="Arial"/>
              </a:rPr>
              <a:t>SIEMENS. </a:t>
            </a:r>
            <a:r>
              <a:rPr sz="2400" b="0" spc="0">
                <a:solidFill>
                  <a:srgbClr val="212121"/>
                </a:solidFill>
                <a:latin typeface="Arial"/>
              </a:rPr>
              <a:t>The True Cost of Downtime 2024. Siemens / Senseye, 2024. Disponível em: siemens.com/senseye-predictive-maintenance</a:t>
            </a:r>
          </a:p>
          <a:p>
            <a:pPr>
              <a:spcAft>
                <a:spcPts val="1400"/>
              </a:spcAft>
            </a:pPr>
            <a:r>
              <a:rPr sz="2400" b="1" spc="0">
                <a:solidFill>
                  <a:srgbClr val="212121"/>
                </a:solidFill>
                <a:latin typeface="Arial"/>
              </a:rPr>
              <a:t>U.S. DEPARTMENT OF ENERGY (FEMP). </a:t>
            </a:r>
            <a:r>
              <a:rPr sz="2400" b="0" spc="0">
                <a:solidFill>
                  <a:srgbClr val="212121"/>
                </a:solidFill>
                <a:latin typeface="Arial"/>
              </a:rPr>
              <a:t>Operations &amp; Maintenance Best Practices: a guide to achieving operational efficiency. Release 3.0. PNNL, 2010. Cap. 5. Disponível em: energy.gov/femp</a:t>
            </a:r>
          </a:p>
          <a:p>
            <a:pPr>
              <a:spcAft>
                <a:spcPts val="1400"/>
              </a:spcAft>
            </a:pPr>
            <a:r>
              <a:rPr sz="2400" b="1" spc="0">
                <a:solidFill>
                  <a:srgbClr val="212121"/>
                </a:solidFill>
                <a:latin typeface="Arial"/>
              </a:rPr>
              <a:t>Estimativas do autor: </a:t>
            </a:r>
            <a:r>
              <a:rPr sz="2400" b="0" spc="0">
                <a:solidFill>
                  <a:srgbClr val="212121"/>
                </a:solidFill>
                <a:latin typeface="Arial"/>
              </a:rPr>
              <a:t>simulação de ROI (Impacto), TAM/SAM/SOM (Modelo de negócio) e comparação com concorrentes (Diferencial).</a:t>
            </a:r>
          </a:p>
        </p:txBody>
      </p:sp>
      <p:sp>
        <p:nvSpPr>
          <p:cNvPr id="116" name="Fonte"/>
          <p:cNvSpPr txBox="1"/>
          <p:nvPr/>
        </p:nvSpPr>
        <p:spPr>
          <a:xfrm>
            <a:off x="2505456" y="12755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 spc="0">
                <a:solidFill>
                  <a:srgbClr val="6B6B6B"/>
                </a:solidFill>
                <a:latin typeface="Arial"/>
              </a:rPr>
              <a:t>Acesso às fontes em 24 out. 2026.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Logo-faculdade-preto.png" descr="Logo-faculdade-p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9" y="515849"/>
            <a:ext cx="3227113" cy="654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5492" y="485354"/>
            <a:ext cx="12381882" cy="12745292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Título do Pitch"/>
          <p:cNvSpPr txBox="1"/>
          <p:nvPr/>
        </p:nvSpPr>
        <p:spPr>
          <a:xfrm>
            <a:off x="1247649" y="5077295"/>
            <a:ext cx="21888703" cy="4818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7800"/>
              </a:lnSpc>
              <a:defRPr sz="18500" spc="-555"/>
            </a:lvl1pPr>
          </a:lstStyle>
          <a:p>
            <a:r>
              <a:t>Obrigado!</a:t>
            </a:r>
          </a:p>
        </p:txBody>
      </p:sp>
      <p:sp>
        <p:nvSpPr>
          <p:cNvPr id="91" name="Pitch | Avaliação do módulo 3"/>
          <p:cNvSpPr txBox="1"/>
          <p:nvPr/>
        </p:nvSpPr>
        <p:spPr>
          <a:xfrm>
            <a:off x="772904" y="10853412"/>
            <a:ext cx="7805789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3200" b="1" spc="-96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Pitch | Avaliação do módulo 3</a:t>
            </a:r>
          </a:p>
        </p:txBody>
      </p:sp>
      <p:sp>
        <p:nvSpPr>
          <p:cNvPr id="92" name="Mensagem final"/>
          <p:cNvSpPr txBox="1"/>
          <p:nvPr/>
        </p:nvSpPr>
        <p:spPr>
          <a:xfrm>
            <a:off x="13350240" y="9418320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spc="0">
                <a:solidFill>
                  <a:srgbClr val="212121"/>
                </a:solidFill>
                <a:latin typeface="Helvetica"/>
              </a:rPr>
              <a:t>Esqueceu, quebrou.</a:t>
            </a:r>
          </a:p>
          <a:p>
            <a:pPr algn="l"/>
            <a:r>
              <a:rPr sz="4000" b="0" spc="0">
                <a:solidFill>
                  <a:srgbClr val="212121"/>
                </a:solidFill>
                <a:latin typeface="Helvetica"/>
              </a:rPr>
              <a:t>O FPM não deixa esquecer.</a:t>
            </a:r>
          </a:p>
        </p:txBody>
      </p:sp>
      <p:sp>
        <p:nvSpPr>
          <p:cNvPr id="7" name="Seu nome completo aqui">
            <a:extLst>
              <a:ext uri="{FF2B5EF4-FFF2-40B4-BE49-F238E27FC236}">
                <a16:creationId xmlns:a16="http://schemas.microsoft.com/office/drawing/2014/main" id="{FFA5D7D6-EDCD-5FF3-A99A-7E99CF6C9D36}"/>
              </a:ext>
            </a:extLst>
          </p:cNvPr>
          <p:cNvSpPr txBox="1"/>
          <p:nvPr/>
        </p:nvSpPr>
        <p:spPr>
          <a:xfrm>
            <a:off x="772904" y="11712834"/>
            <a:ext cx="7805789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3000" spc="-9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pt-BR" dirty="0"/>
              <a:t>Luiz Victor Nascimento de Andrade</a:t>
            </a:r>
            <a:endParaRPr dirty="0"/>
          </a:p>
        </p:txBody>
      </p:sp>
      <p:sp>
        <p:nvSpPr>
          <p:cNvPr id="9" name="Nome completo do seu curso de Pós-graduação aqui">
            <a:extLst>
              <a:ext uri="{FF2B5EF4-FFF2-40B4-BE49-F238E27FC236}">
                <a16:creationId xmlns:a16="http://schemas.microsoft.com/office/drawing/2014/main" id="{8E43739F-9656-2B68-0C80-D206F2BE4A15}"/>
              </a:ext>
            </a:extLst>
          </p:cNvPr>
          <p:cNvSpPr txBox="1"/>
          <p:nvPr/>
        </p:nvSpPr>
        <p:spPr>
          <a:xfrm>
            <a:off x="772904" y="12267456"/>
            <a:ext cx="9271699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3000" spc="-9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pt-BR" dirty="0"/>
              <a:t>Engenharia de Software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0000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prova Sans Bold"/>
        <a:ea typeface="Aprova Sans Bold"/>
        <a:cs typeface="Aprova Sans Bold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000"/>
          </a:spcBef>
          <a:spcAft>
            <a:spcPts val="0"/>
          </a:spcAft>
          <a:buClrTx/>
          <a:buSzTx/>
          <a:buFontTx/>
          <a:buNone/>
          <a:tabLst/>
          <a:defRPr kumimoji="0" sz="10000" b="0" i="0" u="none" strike="noStrike" cap="none" spc="-300" normalizeH="0" baseline="0">
            <a:ln>
              <a:noFill/>
            </a:ln>
            <a:solidFill>
              <a:srgbClr val="000000"/>
            </a:solidFill>
            <a:effectLst/>
            <a:uFillTx/>
            <a:latin typeface="Impact"/>
            <a:ea typeface="Impact"/>
            <a:cs typeface="Impact"/>
            <a:sym typeface="Impac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prova Sans Bold"/>
        <a:ea typeface="Aprova Sans Bold"/>
        <a:cs typeface="Aprova Sans Bold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000"/>
          </a:spcBef>
          <a:spcAft>
            <a:spcPts val="0"/>
          </a:spcAft>
          <a:buClrTx/>
          <a:buSzTx/>
          <a:buFontTx/>
          <a:buNone/>
          <a:tabLst/>
          <a:defRPr kumimoji="0" sz="10000" b="0" i="0" u="none" strike="noStrike" cap="none" spc="-300" normalizeH="0" baseline="0">
            <a:ln>
              <a:noFill/>
            </a:ln>
            <a:solidFill>
              <a:srgbClr val="000000"/>
            </a:solidFill>
            <a:effectLst/>
            <a:uFillTx/>
            <a:latin typeface="Impact"/>
            <a:ea typeface="Impact"/>
            <a:cs typeface="Impact"/>
            <a:sym typeface="Impac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1455</Words>
  <Application>Microsoft Office PowerPoint</Application>
  <PresentationFormat>Custom</PresentationFormat>
  <Paragraphs>164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Aprova Sans Bold</vt:lpstr>
      <vt:lpstr>Arial</vt:lpstr>
      <vt:lpstr>Helvetica</vt:lpstr>
      <vt:lpstr>Helvetica Neue</vt:lpstr>
      <vt:lpstr>Impact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Luiz Victor de Andrade</cp:lastModifiedBy>
  <cp:revision>6</cp:revision>
  <dcterms:modified xsi:type="dcterms:W3CDTF">2026-10-24T23:46:34Z</dcterms:modified>
</cp:coreProperties>
</file>